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90" r:id="rId8"/>
    <p:sldId id="286" r:id="rId9"/>
    <p:sldId id="281" r:id="rId10"/>
    <p:sldId id="282" r:id="rId11"/>
    <p:sldId id="291" r:id="rId12"/>
    <p:sldId id="292" r:id="rId13"/>
    <p:sldId id="293" r:id="rId14"/>
    <p:sldId id="283" r:id="rId15"/>
    <p:sldId id="287" r:id="rId16"/>
    <p:sldId id="288" r:id="rId17"/>
    <p:sldId id="285" r:id="rId18"/>
    <p:sldId id="284" r:id="rId19"/>
    <p:sldId id="28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-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770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9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986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4DD89-5D29-DC61-3FA7-4E788536A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DEDE9-1C80-2F6E-617C-E54F26E22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6FF3E8-7B9A-8DA1-741E-890661176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95494B-FF24-5B9D-1941-15E31FEF4C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63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EFCFB-4312-9000-8B07-33C0A52F3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36E97A-AA7F-BF9E-8B9B-1265EBD523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95AEFA-8DDB-602D-C23A-D55BBFF4C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75C15-D1DA-B594-F491-9AB19DFE1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63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654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C6A68-5510-DF5C-2B84-FF66BD3CD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68C88-FED2-3D95-A842-8AC685F46B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850A6-A8E5-51F0-CD09-EAE0CB168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519A-E5A8-EB62-7B14-B6414DC055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648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44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2.jpg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0311" y="3657600"/>
            <a:ext cx="6811689" cy="3200400"/>
          </a:xfrm>
        </p:spPr>
        <p:txBody>
          <a:bodyPr anchor="ctr"/>
          <a:lstStyle/>
          <a:p>
            <a:pPr marL="329565" marR="5080" indent="-317500">
              <a:lnSpc>
                <a:spcPct val="114999"/>
              </a:lnSpc>
              <a:spcBef>
                <a:spcPts val="100"/>
              </a:spcBef>
            </a:pPr>
            <a:r>
              <a:rPr lang="en-US" b="1" spc="125">
                <a:latin typeface="Verdana"/>
                <a:cs typeface="Verdana"/>
              </a:rPr>
              <a:t>Grover's </a:t>
            </a:r>
            <a:r>
              <a:rPr lang="en-US" b="1" spc="140">
                <a:latin typeface="Verdana"/>
                <a:cs typeface="Verdana"/>
              </a:rPr>
              <a:t>Algorithm</a:t>
            </a:r>
            <a:endParaRPr lang="en-US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997585"/>
            <a:ext cx="3611880" cy="1242695"/>
          </a:xfrm>
        </p:spPr>
        <p:txBody>
          <a:bodyPr/>
          <a:lstStyle/>
          <a:p>
            <a:r>
              <a:rPr lang="en-US" b="1" spc="180"/>
              <a:t>Introduction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2674013"/>
            <a:ext cx="5189220" cy="5715607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lang="en-US" sz="2000" b="1" spc="120">
                <a:latin typeface="Arial"/>
                <a:cs typeface="Arial"/>
              </a:rPr>
              <a:t>What</a:t>
            </a:r>
            <a:r>
              <a:rPr lang="en-US" sz="2000" b="1" spc="-75">
                <a:latin typeface="Arial"/>
                <a:cs typeface="Arial"/>
              </a:rPr>
              <a:t> </a:t>
            </a:r>
            <a:r>
              <a:rPr lang="en-US" sz="2000" b="1">
                <a:latin typeface="Arial"/>
                <a:cs typeface="Arial"/>
              </a:rPr>
              <a:t>is</a:t>
            </a:r>
            <a:r>
              <a:rPr lang="en-US" sz="2000" b="1" spc="-70">
                <a:latin typeface="Arial"/>
                <a:cs typeface="Arial"/>
              </a:rPr>
              <a:t> </a:t>
            </a:r>
            <a:r>
              <a:rPr lang="en-US" sz="2000" b="1" spc="50">
                <a:latin typeface="Arial"/>
                <a:cs typeface="Arial"/>
              </a:rPr>
              <a:t>Grover’s</a:t>
            </a:r>
            <a:r>
              <a:rPr lang="en-US" sz="2000" b="1" spc="-90">
                <a:latin typeface="Arial"/>
                <a:cs typeface="Arial"/>
              </a:rPr>
              <a:t> </a:t>
            </a:r>
            <a:r>
              <a:rPr lang="en-US" sz="2000" b="1" spc="60">
                <a:latin typeface="Arial"/>
                <a:cs typeface="Arial"/>
              </a:rPr>
              <a:t>algorithm?</a:t>
            </a:r>
            <a:endParaRPr lang="en-US" sz="2000">
              <a:latin typeface="Arial"/>
              <a:cs typeface="Arial"/>
            </a:endParaRPr>
          </a:p>
          <a:p>
            <a:pPr marL="329565" marR="723265" indent="-317500">
              <a:lnSpc>
                <a:spcPct val="114999"/>
              </a:lnSpc>
              <a:spcBef>
                <a:spcPts val="5"/>
              </a:spcBef>
            </a:pPr>
            <a:r>
              <a:rPr lang="en-US" sz="2000">
                <a:latin typeface="Arial MT"/>
                <a:cs typeface="Arial MT"/>
              </a:rPr>
              <a:t>An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125">
                <a:latin typeface="Arial MT"/>
                <a:cs typeface="Arial MT"/>
              </a:rPr>
              <a:t>algorithm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150">
                <a:latin typeface="Arial MT"/>
                <a:cs typeface="Arial MT"/>
              </a:rPr>
              <a:t>proposed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 spc="85">
                <a:latin typeface="Arial MT"/>
                <a:cs typeface="Arial MT"/>
              </a:rPr>
              <a:t>by</a:t>
            </a:r>
            <a:r>
              <a:rPr lang="en-US" sz="2000" spc="-30">
                <a:latin typeface="Arial MT"/>
                <a:cs typeface="Arial MT"/>
              </a:rPr>
              <a:t> </a:t>
            </a:r>
            <a:r>
              <a:rPr lang="en-US" sz="2000">
                <a:latin typeface="Arial MT"/>
                <a:cs typeface="Arial MT"/>
              </a:rPr>
              <a:t>Lov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85">
                <a:latin typeface="Arial MT"/>
                <a:cs typeface="Arial MT"/>
              </a:rPr>
              <a:t>Grover</a:t>
            </a:r>
            <a:r>
              <a:rPr lang="en-US" sz="2000" spc="-60">
                <a:latin typeface="Arial MT"/>
                <a:cs typeface="Arial MT"/>
              </a:rPr>
              <a:t> </a:t>
            </a:r>
            <a:r>
              <a:rPr lang="en-US" sz="2000" spc="114">
                <a:latin typeface="Arial MT"/>
                <a:cs typeface="Arial MT"/>
              </a:rPr>
              <a:t>solves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170">
                <a:latin typeface="Arial MT"/>
                <a:cs typeface="Arial MT"/>
              </a:rPr>
              <a:t>the </a:t>
            </a:r>
            <a:r>
              <a:rPr lang="en-US" sz="2000" spc="130">
                <a:latin typeface="Arial MT"/>
                <a:cs typeface="Arial MT"/>
              </a:rPr>
              <a:t>problem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220">
                <a:latin typeface="Arial MT"/>
                <a:cs typeface="Arial MT"/>
              </a:rPr>
              <a:t>of</a:t>
            </a:r>
            <a:r>
              <a:rPr lang="en-US" sz="2000" spc="-35">
                <a:latin typeface="Arial MT"/>
                <a:cs typeface="Arial MT"/>
              </a:rPr>
              <a:t> </a:t>
            </a:r>
            <a:r>
              <a:rPr lang="en-US" sz="2000" spc="105">
                <a:latin typeface="Arial MT"/>
                <a:cs typeface="Arial MT"/>
              </a:rPr>
              <a:t>an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 spc="160">
                <a:latin typeface="Arial MT"/>
                <a:cs typeface="Arial MT"/>
              </a:rPr>
              <a:t>unstructured</a:t>
            </a:r>
            <a:r>
              <a:rPr lang="en-US" sz="2000" spc="-70">
                <a:latin typeface="Arial MT"/>
                <a:cs typeface="Arial MT"/>
              </a:rPr>
              <a:t> </a:t>
            </a:r>
            <a:r>
              <a:rPr lang="en-US" sz="2000" spc="110">
                <a:latin typeface="Arial MT"/>
                <a:cs typeface="Arial MT"/>
              </a:rPr>
              <a:t>search.</a:t>
            </a:r>
          </a:p>
          <a:p>
            <a:pPr marL="329565" marR="723265" indent="-317500">
              <a:lnSpc>
                <a:spcPct val="114999"/>
              </a:lnSpc>
              <a:spcBef>
                <a:spcPts val="5"/>
              </a:spcBef>
            </a:pPr>
            <a:endParaRPr lang="en-US" sz="2000">
              <a:latin typeface="Arial MT"/>
              <a:cs typeface="Arial MT"/>
            </a:endParaRPr>
          </a:p>
          <a:p>
            <a:pPr marL="329565" indent="-317500">
              <a:lnSpc>
                <a:spcPct val="100000"/>
              </a:lnSpc>
              <a:spcBef>
                <a:spcPts val="360"/>
              </a:spcBef>
            </a:pPr>
            <a:r>
              <a:rPr lang="en-US" sz="2000" spc="120">
                <a:latin typeface="Arial MT"/>
                <a:cs typeface="Arial MT"/>
              </a:rPr>
              <a:t>It</a:t>
            </a:r>
            <a:r>
              <a:rPr lang="en-US" sz="2000" spc="-60">
                <a:latin typeface="Arial MT"/>
                <a:cs typeface="Arial MT"/>
              </a:rPr>
              <a:t> </a:t>
            </a:r>
            <a:r>
              <a:rPr lang="en-US" sz="2000" spc="75">
                <a:latin typeface="Arial MT"/>
                <a:cs typeface="Arial MT"/>
              </a:rPr>
              <a:t>is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100">
                <a:latin typeface="Arial MT"/>
                <a:cs typeface="Arial MT"/>
              </a:rPr>
              <a:t>a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130">
                <a:latin typeface="Arial MT"/>
                <a:cs typeface="Arial MT"/>
              </a:rPr>
              <a:t>quantum</a:t>
            </a:r>
            <a:r>
              <a:rPr lang="en-US" sz="2000" spc="-60">
                <a:latin typeface="Arial MT"/>
                <a:cs typeface="Arial MT"/>
              </a:rPr>
              <a:t> </a:t>
            </a:r>
            <a:r>
              <a:rPr lang="en-US" sz="2000" spc="125">
                <a:latin typeface="Arial MT"/>
                <a:cs typeface="Arial MT"/>
              </a:rPr>
              <a:t>algorithm</a:t>
            </a:r>
            <a:r>
              <a:rPr lang="en-US" sz="2000" spc="-65">
                <a:latin typeface="Arial MT"/>
                <a:cs typeface="Arial MT"/>
              </a:rPr>
              <a:t> </a:t>
            </a:r>
            <a:r>
              <a:rPr lang="en-US" sz="2000" spc="200">
                <a:latin typeface="Arial MT"/>
                <a:cs typeface="Arial MT"/>
              </a:rPr>
              <a:t>for</a:t>
            </a:r>
            <a:r>
              <a:rPr lang="en-US" sz="2000" spc="-60">
                <a:latin typeface="Arial MT"/>
                <a:cs typeface="Arial MT"/>
              </a:rPr>
              <a:t> </a:t>
            </a:r>
            <a:r>
              <a:rPr lang="en-US" sz="2000" spc="110">
                <a:latin typeface="Arial MT"/>
                <a:cs typeface="Arial MT"/>
              </a:rPr>
              <a:t>finding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200">
                <a:latin typeface="Arial MT"/>
                <a:cs typeface="Arial MT"/>
              </a:rPr>
              <a:t>the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 spc="140">
                <a:latin typeface="Arial MT"/>
                <a:cs typeface="Arial MT"/>
              </a:rPr>
              <a:t>input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90">
                <a:latin typeface="Arial MT"/>
                <a:cs typeface="Arial MT"/>
              </a:rPr>
              <a:t>value</a:t>
            </a:r>
            <a:r>
              <a:rPr lang="en-US" sz="2000" spc="-70">
                <a:latin typeface="Arial MT"/>
                <a:cs typeface="Arial MT"/>
              </a:rPr>
              <a:t> </a:t>
            </a:r>
            <a:r>
              <a:rPr lang="en-US" sz="2000" spc="90">
                <a:latin typeface="Arial MT"/>
                <a:cs typeface="Arial MT"/>
              </a:rPr>
              <a:t>x*</a:t>
            </a:r>
            <a:endParaRPr lang="en-US" sz="2000">
              <a:latin typeface="Arial MT"/>
              <a:cs typeface="Arial MT"/>
            </a:endParaRPr>
          </a:p>
          <a:p>
            <a:pPr marL="329565" marR="432434">
              <a:lnSpc>
                <a:spcPct val="114999"/>
              </a:lnSpc>
            </a:pPr>
            <a:r>
              <a:rPr lang="en-US" sz="2000" spc="220">
                <a:latin typeface="Arial MT"/>
                <a:cs typeface="Arial MT"/>
              </a:rPr>
              <a:t>of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 spc="100">
                <a:latin typeface="Arial MT"/>
                <a:cs typeface="Arial MT"/>
              </a:rPr>
              <a:t>a</a:t>
            </a:r>
            <a:r>
              <a:rPr lang="en-US" sz="2000" spc="-65">
                <a:latin typeface="Arial MT"/>
                <a:cs typeface="Arial MT"/>
              </a:rPr>
              <a:t> </a:t>
            </a:r>
            <a:r>
              <a:rPr lang="en-US" sz="2000" spc="170">
                <a:latin typeface="Arial MT"/>
                <a:cs typeface="Arial MT"/>
              </a:rPr>
              <a:t>function</a:t>
            </a:r>
            <a:r>
              <a:rPr lang="en-US" sz="2000" spc="-35">
                <a:latin typeface="Arial MT"/>
                <a:cs typeface="Arial MT"/>
              </a:rPr>
              <a:t> </a:t>
            </a:r>
            <a:r>
              <a:rPr lang="en-US" sz="2000" spc="135">
                <a:latin typeface="Arial MT"/>
                <a:cs typeface="Arial MT"/>
              </a:rPr>
              <a:t>f(x)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135">
                <a:latin typeface="Arial MT"/>
                <a:cs typeface="Arial MT"/>
              </a:rPr>
              <a:t>with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 spc="135">
                <a:latin typeface="Arial MT"/>
                <a:cs typeface="Arial MT"/>
              </a:rPr>
              <a:t>f(x*)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>
                <a:latin typeface="Arial MT"/>
                <a:cs typeface="Arial MT"/>
              </a:rPr>
              <a:t>=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-290">
                <a:latin typeface="Arial MT"/>
                <a:cs typeface="Arial MT"/>
              </a:rPr>
              <a:t>1</a:t>
            </a:r>
            <a:r>
              <a:rPr lang="en-US" sz="2000" spc="-55">
                <a:latin typeface="Arial MT"/>
                <a:cs typeface="Arial MT"/>
              </a:rPr>
              <a:t> </a:t>
            </a:r>
            <a:r>
              <a:rPr lang="en-US" sz="2000" spc="120">
                <a:latin typeface="Arial MT"/>
                <a:cs typeface="Arial MT"/>
              </a:rPr>
              <a:t>and</a:t>
            </a:r>
            <a:r>
              <a:rPr lang="en-US" sz="2000" spc="-65">
                <a:latin typeface="Arial MT"/>
                <a:cs typeface="Arial MT"/>
              </a:rPr>
              <a:t> </a:t>
            </a:r>
            <a:r>
              <a:rPr lang="en-US" sz="2000" spc="135">
                <a:latin typeface="Arial MT"/>
                <a:cs typeface="Arial MT"/>
              </a:rPr>
              <a:t>f(x)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>
                <a:latin typeface="Arial MT"/>
                <a:cs typeface="Arial MT"/>
              </a:rPr>
              <a:t>=</a:t>
            </a:r>
            <a:r>
              <a:rPr lang="en-US" sz="2000" spc="-40">
                <a:latin typeface="Arial MT"/>
                <a:cs typeface="Arial MT"/>
              </a:rPr>
              <a:t> </a:t>
            </a:r>
            <a:r>
              <a:rPr lang="en-US" sz="2000">
                <a:latin typeface="Arial MT"/>
                <a:cs typeface="Arial MT"/>
              </a:rPr>
              <a:t>0</a:t>
            </a:r>
            <a:r>
              <a:rPr lang="en-US" sz="2000" spc="-50">
                <a:latin typeface="Arial MT"/>
                <a:cs typeface="Arial MT"/>
              </a:rPr>
              <a:t> </a:t>
            </a:r>
            <a:r>
              <a:rPr lang="en-US" sz="2000" spc="200">
                <a:latin typeface="Arial MT"/>
                <a:cs typeface="Arial MT"/>
              </a:rPr>
              <a:t>for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35">
                <a:latin typeface="Arial MT"/>
                <a:cs typeface="Arial MT"/>
              </a:rPr>
              <a:t>all </a:t>
            </a:r>
            <a:r>
              <a:rPr lang="en-US" sz="2000" spc="190">
                <a:latin typeface="Arial MT"/>
                <a:cs typeface="Arial MT"/>
              </a:rPr>
              <a:t>other</a:t>
            </a:r>
            <a:r>
              <a:rPr lang="en-US" sz="2000" spc="-75">
                <a:latin typeface="Arial MT"/>
                <a:cs typeface="Arial MT"/>
              </a:rPr>
              <a:t> </a:t>
            </a:r>
            <a:r>
              <a:rPr lang="en-US" sz="2000" spc="100">
                <a:latin typeface="Arial MT"/>
                <a:cs typeface="Arial MT"/>
              </a:rPr>
              <a:t>values</a:t>
            </a:r>
            <a:r>
              <a:rPr lang="en-US" sz="2000" spc="-70">
                <a:latin typeface="Arial MT"/>
                <a:cs typeface="Arial MT"/>
              </a:rPr>
              <a:t> </a:t>
            </a:r>
            <a:r>
              <a:rPr lang="en-US" sz="2000" spc="220">
                <a:latin typeface="Arial MT"/>
                <a:cs typeface="Arial MT"/>
              </a:rPr>
              <a:t>of</a:t>
            </a:r>
            <a:r>
              <a:rPr lang="en-US" sz="2000" spc="-45">
                <a:latin typeface="Arial MT"/>
                <a:cs typeface="Arial MT"/>
              </a:rPr>
              <a:t> </a:t>
            </a:r>
            <a:r>
              <a:rPr lang="en-US" sz="2000" spc="-25">
                <a:latin typeface="Arial MT"/>
                <a:cs typeface="Arial MT"/>
              </a:rPr>
              <a:t>x.</a:t>
            </a:r>
            <a:endParaRPr lang="en-US" sz="2000">
              <a:latin typeface="Arial MT"/>
              <a:cs typeface="Arial MT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1531620"/>
            <a:ext cx="7288212" cy="4638509"/>
          </a:xfrm>
        </p:spPr>
        <p:txBody>
          <a:bodyPr>
            <a:normAutofit/>
          </a:bodyPr>
          <a:lstStyle/>
          <a:p>
            <a:pPr marL="329565" indent="-316865">
              <a:spcBef>
                <a:spcPts val="464"/>
              </a:spcBef>
              <a:buSzPct val="70000"/>
              <a:buFont typeface="Times New Roman"/>
              <a:buChar char="●"/>
              <a:tabLst>
                <a:tab pos="329565" algn="l"/>
              </a:tabLst>
            </a:pPr>
            <a:r>
              <a:rPr lang="en-US" sz="2800" b="0" spc="120" dirty="0">
                <a:latin typeface="Arial"/>
                <a:cs typeface="Arial"/>
              </a:rPr>
              <a:t>What</a:t>
            </a:r>
            <a:r>
              <a:rPr lang="en-US" sz="2800" b="0" spc="-75" dirty="0">
                <a:latin typeface="Arial"/>
                <a:cs typeface="Arial"/>
              </a:rPr>
              <a:t> </a:t>
            </a:r>
            <a:r>
              <a:rPr lang="en-US" sz="2800" b="0" dirty="0">
                <a:latin typeface="Arial"/>
                <a:cs typeface="Arial"/>
              </a:rPr>
              <a:t>is</a:t>
            </a:r>
            <a:r>
              <a:rPr lang="en-US" sz="2800" b="0" spc="-70" dirty="0">
                <a:latin typeface="Arial"/>
                <a:cs typeface="Arial"/>
              </a:rPr>
              <a:t> </a:t>
            </a:r>
            <a:r>
              <a:rPr lang="en-US" sz="2800" b="0" dirty="0">
                <a:latin typeface="Arial"/>
                <a:cs typeface="Arial"/>
              </a:rPr>
              <a:t>Grover’s</a:t>
            </a:r>
            <a:r>
              <a:rPr lang="en-US" sz="2800" b="0" spc="-90" dirty="0">
                <a:latin typeface="Arial"/>
                <a:cs typeface="Arial"/>
              </a:rPr>
              <a:t> </a:t>
            </a:r>
            <a:r>
              <a:rPr lang="en-US" sz="2800" b="0" spc="60" dirty="0">
                <a:latin typeface="Arial"/>
                <a:cs typeface="Arial"/>
              </a:rPr>
              <a:t>algorithm?</a:t>
            </a:r>
            <a:endParaRPr lang="en-US" sz="2800" b="0" dirty="0">
              <a:latin typeface="Arial"/>
              <a:cs typeface="Arial"/>
            </a:endParaRPr>
          </a:p>
          <a:p>
            <a:pPr marL="329565" marR="5080" indent="-317500">
              <a:lnSpc>
                <a:spcPct val="114999"/>
              </a:lnSpc>
              <a:buSzPct val="70000"/>
              <a:buFont typeface="Times New Roman"/>
              <a:buChar char="●"/>
              <a:tabLst>
                <a:tab pos="329565" algn="l"/>
              </a:tabLst>
            </a:pPr>
            <a:r>
              <a:rPr lang="en-US" sz="2000" b="0" dirty="0">
                <a:latin typeface="Arial MT"/>
                <a:cs typeface="Arial MT"/>
              </a:rPr>
              <a:t>An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114" dirty="0">
                <a:latin typeface="Arial MT"/>
                <a:cs typeface="Arial MT"/>
              </a:rPr>
              <a:t>example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200" dirty="0">
                <a:latin typeface="Arial MT"/>
                <a:cs typeface="Arial MT"/>
              </a:rPr>
              <a:t>for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100" dirty="0">
                <a:latin typeface="Arial MT"/>
                <a:cs typeface="Arial MT"/>
              </a:rPr>
              <a:t>a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30" dirty="0">
                <a:latin typeface="Arial MT"/>
                <a:cs typeface="Arial MT"/>
              </a:rPr>
              <a:t>problem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265" dirty="0">
                <a:latin typeface="Arial MT"/>
                <a:cs typeface="Arial MT"/>
              </a:rPr>
              <a:t>to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125" dirty="0">
                <a:latin typeface="Arial MT"/>
                <a:cs typeface="Arial MT"/>
              </a:rPr>
              <a:t>use</a:t>
            </a:r>
            <a:r>
              <a:rPr lang="en-US" sz="2000" b="0" spc="-65" dirty="0">
                <a:latin typeface="Arial MT"/>
                <a:cs typeface="Arial MT"/>
              </a:rPr>
              <a:t> </a:t>
            </a:r>
            <a:r>
              <a:rPr lang="en-US" sz="2000" b="0" spc="140" dirty="0">
                <a:latin typeface="Arial MT"/>
                <a:cs typeface="Arial MT"/>
              </a:rPr>
              <a:t>this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25" dirty="0">
                <a:latin typeface="Arial MT"/>
                <a:cs typeface="Arial MT"/>
              </a:rPr>
              <a:t>algorithm</a:t>
            </a:r>
            <a:r>
              <a:rPr lang="en-US" sz="2000" b="0" spc="-65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is</a:t>
            </a:r>
            <a:r>
              <a:rPr lang="en-US" sz="2000" b="0" spc="-35" dirty="0">
                <a:latin typeface="Arial MT"/>
                <a:cs typeface="Arial MT"/>
              </a:rPr>
              <a:t> </a:t>
            </a:r>
            <a:r>
              <a:rPr lang="en-US" sz="2000" b="0" spc="100" dirty="0">
                <a:latin typeface="Arial MT"/>
                <a:cs typeface="Arial MT"/>
              </a:rPr>
              <a:t>finding a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45" dirty="0">
                <a:latin typeface="Arial MT"/>
                <a:cs typeface="Arial MT"/>
              </a:rPr>
              <a:t>phone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120" dirty="0">
                <a:latin typeface="Arial MT"/>
                <a:cs typeface="Arial MT"/>
              </a:rPr>
              <a:t>number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in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10" dirty="0">
                <a:latin typeface="Arial MT"/>
                <a:cs typeface="Arial MT"/>
              </a:rPr>
              <a:t>an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160" dirty="0">
                <a:latin typeface="Arial MT"/>
                <a:cs typeface="Arial MT"/>
              </a:rPr>
              <a:t>unsorted</a:t>
            </a:r>
            <a:r>
              <a:rPr lang="en-US" sz="2000" b="0" spc="-80" dirty="0">
                <a:latin typeface="Arial MT"/>
                <a:cs typeface="Arial MT"/>
              </a:rPr>
              <a:t> </a:t>
            </a:r>
            <a:r>
              <a:rPr lang="en-US" sz="2000" b="0" spc="160" dirty="0">
                <a:latin typeface="Arial MT"/>
                <a:cs typeface="Arial MT"/>
              </a:rPr>
              <a:t>telephone</a:t>
            </a:r>
            <a:r>
              <a:rPr lang="en-US" sz="2000" b="0" spc="-65" dirty="0">
                <a:latin typeface="Arial MT"/>
                <a:cs typeface="Arial MT"/>
              </a:rPr>
              <a:t> </a:t>
            </a:r>
            <a:r>
              <a:rPr lang="en-US" sz="2000" b="0" spc="130" dirty="0">
                <a:latin typeface="Arial MT"/>
                <a:cs typeface="Arial MT"/>
              </a:rPr>
              <a:t>directory.</a:t>
            </a:r>
            <a:endParaRPr lang="en-US" sz="2000" b="0" dirty="0">
              <a:latin typeface="Arial MT"/>
              <a:cs typeface="Arial MT"/>
            </a:endParaRPr>
          </a:p>
          <a:p>
            <a:pPr marL="329565">
              <a:spcBef>
                <a:spcPts val="360"/>
              </a:spcBef>
            </a:pPr>
            <a:r>
              <a:rPr lang="en-US" sz="2000" b="0" dirty="0">
                <a:latin typeface="Arial MT"/>
                <a:cs typeface="Arial MT"/>
              </a:rPr>
              <a:t>You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145" dirty="0">
                <a:latin typeface="Arial MT"/>
                <a:cs typeface="Arial MT"/>
              </a:rPr>
              <a:t>need</a:t>
            </a:r>
            <a:r>
              <a:rPr lang="en-US" sz="2000" b="0" spc="-75" dirty="0">
                <a:latin typeface="Arial MT"/>
                <a:cs typeface="Arial MT"/>
              </a:rPr>
              <a:t> </a:t>
            </a:r>
            <a:r>
              <a:rPr lang="en-US" sz="2000" b="0" spc="-125" dirty="0">
                <a:latin typeface="Arial MT"/>
                <a:cs typeface="Arial MT"/>
              </a:rPr>
              <a:t>N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20" dirty="0">
                <a:latin typeface="Arial MT"/>
                <a:cs typeface="Arial MT"/>
              </a:rPr>
              <a:t>(number</a:t>
            </a:r>
            <a:r>
              <a:rPr lang="en-US" sz="2000" b="0" spc="-40" dirty="0">
                <a:latin typeface="Arial MT"/>
                <a:cs typeface="Arial MT"/>
              </a:rPr>
              <a:t> </a:t>
            </a:r>
            <a:r>
              <a:rPr lang="en-US" sz="2000" b="0" spc="225" dirty="0">
                <a:latin typeface="Arial MT"/>
                <a:cs typeface="Arial MT"/>
              </a:rPr>
              <a:t>of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45" dirty="0">
                <a:latin typeface="Arial MT"/>
                <a:cs typeface="Arial MT"/>
              </a:rPr>
              <a:t>entries)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175" dirty="0">
                <a:latin typeface="Arial MT"/>
                <a:cs typeface="Arial MT"/>
              </a:rPr>
              <a:t>steps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260" dirty="0">
                <a:latin typeface="Arial MT"/>
                <a:cs typeface="Arial MT"/>
              </a:rPr>
              <a:t>to</a:t>
            </a:r>
            <a:r>
              <a:rPr lang="en-US" sz="2000" b="0" spc="-35" dirty="0">
                <a:latin typeface="Arial MT"/>
                <a:cs typeface="Arial MT"/>
              </a:rPr>
              <a:t> </a:t>
            </a:r>
            <a:r>
              <a:rPr lang="en-US" sz="2000" b="0" spc="200" dirty="0">
                <a:latin typeface="Arial MT"/>
                <a:cs typeface="Arial MT"/>
              </a:rPr>
              <a:t>get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200" dirty="0">
                <a:latin typeface="Arial MT"/>
                <a:cs typeface="Arial MT"/>
              </a:rPr>
              <a:t>the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35" dirty="0">
                <a:latin typeface="Arial MT"/>
                <a:cs typeface="Arial MT"/>
              </a:rPr>
              <a:t>right</a:t>
            </a:r>
            <a:endParaRPr lang="en-US" sz="2000" b="0" dirty="0">
              <a:latin typeface="Arial MT"/>
              <a:cs typeface="Arial MT"/>
            </a:endParaRPr>
          </a:p>
          <a:p>
            <a:pPr marL="329565" marR="79375">
              <a:lnSpc>
                <a:spcPct val="114999"/>
              </a:lnSpc>
              <a:spcBef>
                <a:spcPts val="5"/>
              </a:spcBef>
            </a:pPr>
            <a:r>
              <a:rPr lang="en-US" sz="2000" b="0" spc="114" dirty="0">
                <a:latin typeface="Arial MT"/>
                <a:cs typeface="Arial MT"/>
              </a:rPr>
              <a:t>answer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130" dirty="0">
                <a:latin typeface="Arial MT"/>
                <a:cs typeface="Arial MT"/>
              </a:rPr>
              <a:t>(on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120" dirty="0">
                <a:latin typeface="Arial MT"/>
                <a:cs typeface="Arial MT"/>
              </a:rPr>
              <a:t>average</a:t>
            </a:r>
            <a:r>
              <a:rPr lang="en-US" sz="2000" b="0" spc="-90" dirty="0">
                <a:latin typeface="Arial MT"/>
                <a:cs typeface="Arial MT"/>
              </a:rPr>
              <a:t> </a:t>
            </a:r>
            <a:r>
              <a:rPr lang="en-US" sz="2000" b="0" spc="185" dirty="0">
                <a:latin typeface="Arial MT"/>
                <a:cs typeface="Arial MT"/>
              </a:rPr>
              <a:t>it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may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155" dirty="0">
                <a:latin typeface="Arial MT"/>
                <a:cs typeface="Arial MT"/>
              </a:rPr>
              <a:t>be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65" dirty="0">
                <a:latin typeface="Arial MT"/>
                <a:cs typeface="Arial MT"/>
              </a:rPr>
              <a:t>N/2).</a:t>
            </a:r>
            <a:r>
              <a:rPr lang="en-US" sz="2000" b="0" spc="-40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With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Grover’s </a:t>
            </a:r>
            <a:r>
              <a:rPr lang="en-US" sz="2000" b="0" spc="110" dirty="0">
                <a:latin typeface="Arial MT"/>
                <a:cs typeface="Arial MT"/>
              </a:rPr>
              <a:t>algorithm,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125" dirty="0">
                <a:latin typeface="Arial MT"/>
                <a:cs typeface="Arial MT"/>
              </a:rPr>
              <a:t>we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160" dirty="0">
                <a:latin typeface="Arial MT"/>
                <a:cs typeface="Arial MT"/>
              </a:rPr>
              <a:t>can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200" dirty="0">
                <a:latin typeface="Arial MT"/>
                <a:cs typeface="Arial MT"/>
              </a:rPr>
              <a:t>get</a:t>
            </a:r>
            <a:r>
              <a:rPr lang="en-US" sz="2000" b="0" spc="-65" dirty="0">
                <a:latin typeface="Arial MT"/>
                <a:cs typeface="Arial MT"/>
              </a:rPr>
              <a:t> </a:t>
            </a:r>
            <a:r>
              <a:rPr lang="en-US" sz="2000" b="0" spc="195" dirty="0">
                <a:latin typeface="Arial MT"/>
                <a:cs typeface="Arial MT"/>
              </a:rPr>
              <a:t>the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114" dirty="0">
                <a:latin typeface="Arial MT"/>
                <a:cs typeface="Arial MT"/>
              </a:rPr>
              <a:t>answer</a:t>
            </a:r>
            <a:r>
              <a:rPr lang="en-US" sz="2000" b="0" spc="-80" dirty="0">
                <a:latin typeface="Arial MT"/>
                <a:cs typeface="Arial MT"/>
              </a:rPr>
              <a:t> </a:t>
            </a:r>
            <a:r>
              <a:rPr lang="en-US" sz="2000" b="0" spc="135" dirty="0">
                <a:latin typeface="Arial MT"/>
                <a:cs typeface="Arial MT"/>
              </a:rPr>
              <a:t>with</a:t>
            </a:r>
            <a:r>
              <a:rPr lang="en-US" sz="2000" b="0" spc="-40" dirty="0">
                <a:latin typeface="Arial MT"/>
                <a:cs typeface="Arial MT"/>
              </a:rPr>
              <a:t> </a:t>
            </a:r>
            <a:r>
              <a:rPr lang="en-US" sz="2000" b="0" spc="100" dirty="0">
                <a:latin typeface="Arial MT"/>
                <a:cs typeface="Arial MT"/>
              </a:rPr>
              <a:t>a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85" dirty="0">
                <a:latin typeface="Arial MT"/>
                <a:cs typeface="Arial MT"/>
              </a:rPr>
              <a:t>maximum</a:t>
            </a:r>
            <a:r>
              <a:rPr lang="en-US" sz="2000" b="0" spc="-60" dirty="0">
                <a:latin typeface="Arial MT"/>
                <a:cs typeface="Arial MT"/>
              </a:rPr>
              <a:t> </a:t>
            </a:r>
            <a:r>
              <a:rPr lang="en-US" sz="2000" b="0" spc="220" dirty="0">
                <a:latin typeface="Arial MT"/>
                <a:cs typeface="Arial MT"/>
              </a:rPr>
              <a:t>of</a:t>
            </a:r>
            <a:r>
              <a:rPr lang="en-US" sz="2000" b="0" spc="-30" dirty="0">
                <a:latin typeface="Arial MT"/>
                <a:cs typeface="Arial MT"/>
              </a:rPr>
              <a:t> </a:t>
            </a:r>
            <a:r>
              <a:rPr lang="en-US" sz="2000" b="0" spc="-25" dirty="0">
                <a:latin typeface="Cambria Math"/>
                <a:cs typeface="Cambria Math"/>
              </a:rPr>
              <a:t>√</a:t>
            </a:r>
            <a:r>
              <a:rPr lang="en-US" sz="2000" b="0" spc="-25" dirty="0">
                <a:latin typeface="Arial MT"/>
                <a:cs typeface="Arial MT"/>
              </a:rPr>
              <a:t>N </a:t>
            </a:r>
            <a:r>
              <a:rPr lang="en-US" sz="2000" b="0" spc="130" dirty="0">
                <a:latin typeface="Arial MT"/>
                <a:cs typeface="Arial MT"/>
              </a:rPr>
              <a:t>steps.</a:t>
            </a:r>
            <a:endParaRPr lang="en-US" sz="2000" b="0" dirty="0">
              <a:latin typeface="Arial MT"/>
              <a:cs typeface="Arial MT"/>
            </a:endParaRPr>
          </a:p>
          <a:p>
            <a:pPr marL="329565" marR="212725" indent="-317500">
              <a:lnSpc>
                <a:spcPct val="114999"/>
              </a:lnSpc>
              <a:buSzPct val="70000"/>
              <a:buFont typeface="Times New Roman"/>
              <a:buChar char="●"/>
              <a:tabLst>
                <a:tab pos="329565" algn="l"/>
              </a:tabLst>
            </a:pPr>
            <a:r>
              <a:rPr lang="en-US" sz="2000" b="0" spc="130" dirty="0">
                <a:latin typeface="Arial MT"/>
                <a:cs typeface="Arial MT"/>
              </a:rPr>
              <a:t>Another</a:t>
            </a:r>
            <a:r>
              <a:rPr lang="en-US" sz="2000" b="0" spc="-90" dirty="0">
                <a:latin typeface="Arial MT"/>
                <a:cs typeface="Arial MT"/>
              </a:rPr>
              <a:t> </a:t>
            </a:r>
            <a:r>
              <a:rPr lang="en-US" sz="2000" b="0" spc="114" dirty="0">
                <a:latin typeface="Arial MT"/>
                <a:cs typeface="Arial MT"/>
              </a:rPr>
              <a:t>example</a:t>
            </a:r>
            <a:r>
              <a:rPr lang="en-US" sz="2000" b="0" spc="-70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is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265" dirty="0">
                <a:latin typeface="Arial MT"/>
                <a:cs typeface="Arial MT"/>
              </a:rPr>
              <a:t>to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130" dirty="0">
                <a:latin typeface="Arial MT"/>
                <a:cs typeface="Arial MT"/>
              </a:rPr>
              <a:t>find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spc="100" dirty="0">
                <a:latin typeface="Arial MT"/>
                <a:cs typeface="Arial MT"/>
              </a:rPr>
              <a:t>a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160" dirty="0">
                <a:latin typeface="Arial MT"/>
                <a:cs typeface="Arial MT"/>
              </a:rPr>
              <a:t>specific</a:t>
            </a:r>
            <a:r>
              <a:rPr lang="en-US" sz="2000" b="0" spc="-35" dirty="0">
                <a:latin typeface="Arial MT"/>
                <a:cs typeface="Arial MT"/>
              </a:rPr>
              <a:t> </a:t>
            </a:r>
            <a:r>
              <a:rPr lang="en-US" sz="2000" b="0" spc="155" dirty="0">
                <a:latin typeface="Arial MT"/>
                <a:cs typeface="Arial MT"/>
              </a:rPr>
              <a:t>card</a:t>
            </a:r>
            <a:r>
              <a:rPr lang="en-US" sz="2000" b="0" spc="-75" dirty="0">
                <a:latin typeface="Arial MT"/>
                <a:cs typeface="Arial MT"/>
              </a:rPr>
              <a:t> </a:t>
            </a:r>
            <a:r>
              <a:rPr lang="en-US" sz="2000" b="0" spc="75" dirty="0">
                <a:latin typeface="Arial MT"/>
                <a:cs typeface="Arial MT"/>
              </a:rPr>
              <a:t>in</a:t>
            </a:r>
            <a:r>
              <a:rPr lang="en-US" sz="2000" b="0" spc="-55" dirty="0">
                <a:latin typeface="Arial MT"/>
                <a:cs typeface="Arial MT"/>
              </a:rPr>
              <a:t> </a:t>
            </a:r>
            <a:r>
              <a:rPr lang="en-US" sz="2000" b="0" spc="100" dirty="0">
                <a:latin typeface="Arial MT"/>
                <a:cs typeface="Arial MT"/>
              </a:rPr>
              <a:t>a</a:t>
            </a:r>
            <a:r>
              <a:rPr lang="en-US" sz="2000" b="0" spc="-50" dirty="0">
                <a:latin typeface="Arial MT"/>
                <a:cs typeface="Arial MT"/>
              </a:rPr>
              <a:t> </a:t>
            </a:r>
            <a:r>
              <a:rPr lang="en-US" sz="2000" b="0" spc="130" dirty="0">
                <a:latin typeface="Arial MT"/>
                <a:cs typeface="Arial MT"/>
              </a:rPr>
              <a:t>shuffled </a:t>
            </a:r>
            <a:r>
              <a:rPr lang="en-US" sz="2000" b="0" spc="145" dirty="0">
                <a:latin typeface="Arial MT"/>
                <a:cs typeface="Arial MT"/>
              </a:rPr>
              <a:t>deck</a:t>
            </a:r>
            <a:r>
              <a:rPr lang="en-US" sz="2000" b="0" spc="-40" dirty="0">
                <a:latin typeface="Arial MT"/>
                <a:cs typeface="Arial MT"/>
              </a:rPr>
              <a:t> </a:t>
            </a:r>
            <a:r>
              <a:rPr lang="en-US" sz="2000" b="0" spc="220" dirty="0">
                <a:latin typeface="Arial MT"/>
                <a:cs typeface="Arial MT"/>
              </a:rPr>
              <a:t>of</a:t>
            </a:r>
            <a:r>
              <a:rPr lang="en-US" sz="2000" b="0" spc="-30" dirty="0">
                <a:latin typeface="Arial MT"/>
                <a:cs typeface="Arial MT"/>
              </a:rPr>
              <a:t> </a:t>
            </a:r>
            <a:r>
              <a:rPr lang="en-US" sz="2000" b="0" spc="-125" dirty="0">
                <a:latin typeface="Arial MT"/>
                <a:cs typeface="Arial MT"/>
              </a:rPr>
              <a:t>N</a:t>
            </a:r>
            <a:r>
              <a:rPr lang="en-US" sz="2000" b="0" spc="-15" dirty="0">
                <a:latin typeface="Arial MT"/>
                <a:cs typeface="Arial MT"/>
              </a:rPr>
              <a:t> </a:t>
            </a:r>
            <a:r>
              <a:rPr lang="en-US" sz="2000" b="0" spc="90" dirty="0">
                <a:latin typeface="Arial MT"/>
                <a:cs typeface="Arial MT"/>
              </a:rPr>
              <a:t>(say</a:t>
            </a:r>
            <a:r>
              <a:rPr lang="en-US" sz="2000" b="0" spc="-45" dirty="0">
                <a:latin typeface="Arial MT"/>
                <a:cs typeface="Arial MT"/>
              </a:rPr>
              <a:t> </a:t>
            </a:r>
            <a:r>
              <a:rPr lang="en-US" sz="2000" b="0" dirty="0">
                <a:latin typeface="Arial MT"/>
                <a:cs typeface="Arial MT"/>
              </a:rPr>
              <a:t>52)</a:t>
            </a:r>
            <a:r>
              <a:rPr lang="en-US" sz="2000" b="0" spc="-25" dirty="0">
                <a:latin typeface="Arial MT"/>
                <a:cs typeface="Arial MT"/>
              </a:rPr>
              <a:t> </a:t>
            </a:r>
            <a:r>
              <a:rPr lang="en-US" sz="2000" b="0" spc="105" dirty="0">
                <a:latin typeface="Arial MT"/>
                <a:cs typeface="Arial MT"/>
              </a:rPr>
              <a:t>cards.</a:t>
            </a:r>
            <a:endParaRPr lang="en-US" sz="2000" b="0" dirty="0">
              <a:latin typeface="Arial MT"/>
              <a:cs typeface="Arial MT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4282E-3A67-6EEA-17EA-DC70172D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D683F45-022E-3FDB-1768-893304AC8E79}"/>
              </a:ext>
            </a:extLst>
          </p:cNvPr>
          <p:cNvSpPr txBox="1">
            <a:spLocks/>
          </p:cNvSpPr>
          <p:nvPr/>
        </p:nvSpPr>
        <p:spPr>
          <a:xfrm>
            <a:off x="1141413" y="618518"/>
            <a:ext cx="9905998" cy="44336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Main Idea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6F791ED-AF70-9B14-05EF-B74BAC9B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960" y="4258281"/>
            <a:ext cx="3770427" cy="8602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7B1215-7CC2-E02A-8AF7-4F4AE8011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413" y="1042214"/>
            <a:ext cx="10048928" cy="30253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3F002C-7990-129B-3BA8-97B969EB2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5996" y="5205926"/>
            <a:ext cx="2012538" cy="6098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0EBC2D-EB8E-C73C-F1D4-449BFAA648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387" y="4491265"/>
            <a:ext cx="3116280" cy="11993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99E6CA1-8BB4-2425-94C8-E017F2157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14252" y="4487192"/>
            <a:ext cx="3337842" cy="119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40980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97485-55A3-9E71-E2CB-94F6A424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551"/>
            <a:ext cx="10515600" cy="583710"/>
          </a:xfrm>
        </p:spPr>
        <p:txBody>
          <a:bodyPr>
            <a:normAutofit/>
          </a:bodyPr>
          <a:lstStyle/>
          <a:p>
            <a:r>
              <a:rPr lang="en-US" sz="3200" b="1" spc="225"/>
              <a:t>Algorithm</a:t>
            </a:r>
            <a:r>
              <a:rPr lang="en-US" sz="3200" b="1" spc="-250"/>
              <a:t> </a:t>
            </a:r>
            <a:r>
              <a:rPr lang="en-US" sz="3200" b="1" spc="310"/>
              <a:t>Steps</a:t>
            </a:r>
            <a:endParaRPr lang="en-US" sz="3200" b="1">
              <a:latin typeface="+mn-lt"/>
            </a:endParaRP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38B544CD-1EC9-0ED1-F989-C47917CE975C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1098" y="3141616"/>
            <a:ext cx="10515600" cy="196595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C6D3B-543A-2D33-BD4E-79C83B91F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2AA583E8-C7BA-DA57-2553-7F76429EEA14}"/>
              </a:ext>
            </a:extLst>
          </p:cNvPr>
          <p:cNvSpPr txBox="1">
            <a:spLocks/>
          </p:cNvSpPr>
          <p:nvPr/>
        </p:nvSpPr>
        <p:spPr>
          <a:xfrm>
            <a:off x="845302" y="937260"/>
            <a:ext cx="10515600" cy="24917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Let all the N input states be represented with uniform superposition of all states (with </a:t>
            </a:r>
            <a:r>
              <a:rPr lang="en-US" sz="2400" b="1" dirty="0"/>
              <a:t>n </a:t>
            </a:r>
            <a:r>
              <a:rPr lang="en-US" sz="2400" dirty="0"/>
              <a:t>number of qubits and applying Hadamard gates) by 2ⁿ (</a:t>
            </a:r>
            <a:r>
              <a:rPr lang="en-US" sz="2400" b="1" dirty="0"/>
              <a:t>N = 2</a:t>
            </a:r>
            <a:r>
              <a:rPr lang="en-US" sz="2400" dirty="0"/>
              <a:t>ⁿ) qubits where </a:t>
            </a:r>
            <a:r>
              <a:rPr lang="en-US" sz="2400" b="1" dirty="0"/>
              <a:t>n </a:t>
            </a:r>
            <a:r>
              <a:rPr lang="en-US" sz="2400" dirty="0"/>
              <a:t>is an integer.</a:t>
            </a:r>
          </a:p>
          <a:p>
            <a:r>
              <a:rPr lang="en-US" sz="2400" dirty="0"/>
              <a:t>Let us define an Oracle function for our example, i.e., a function that returns</a:t>
            </a:r>
          </a:p>
          <a:p>
            <a:r>
              <a:rPr lang="en-US" sz="2400" dirty="0"/>
              <a:t>‘zero’ for all possible states, except one input state:</a:t>
            </a:r>
          </a:p>
          <a:p>
            <a:pPr marL="329565" indent="-316865">
              <a:spcBef>
                <a:spcPts val="464"/>
              </a:spcBef>
              <a:buSzPct val="70000"/>
              <a:buFont typeface="Times New Roman"/>
              <a:buChar char="●"/>
              <a:tabLst>
                <a:tab pos="329565" algn="l"/>
              </a:tabLst>
            </a:pPr>
            <a:endParaRPr lang="en-US" sz="2400" dirty="0">
              <a:cs typeface="Arial MT"/>
            </a:endParaRPr>
          </a:p>
        </p:txBody>
      </p:sp>
      <p:pic>
        <p:nvPicPr>
          <p:cNvPr id="7" name="object 5">
            <a:extLst>
              <a:ext uri="{FF2B5EF4-FFF2-40B4-BE49-F238E27FC236}">
                <a16:creationId xmlns:a16="http://schemas.microsoft.com/office/drawing/2014/main" id="{06B644DD-8E8D-5ACA-CCEC-52141CD797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31334" y="3296737"/>
            <a:ext cx="6535792" cy="1655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113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624ADCA8-05CF-9AF8-24C0-084BF7541B16}"/>
              </a:ext>
            </a:extLst>
          </p:cNvPr>
          <p:cNvSpPr txBox="1">
            <a:spLocks/>
          </p:cNvSpPr>
          <p:nvPr/>
        </p:nvSpPr>
        <p:spPr>
          <a:xfrm>
            <a:off x="4506077" y="667666"/>
            <a:ext cx="6854825" cy="452119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spc="225"/>
              <a:t>Algorithm</a:t>
            </a:r>
            <a:r>
              <a:rPr lang="en-US" b="1" spc="-254"/>
              <a:t> </a:t>
            </a:r>
            <a:r>
              <a:rPr lang="en-US" b="1" spc="330"/>
              <a:t>Steps</a:t>
            </a:r>
            <a:endParaRPr lang="en-US" b="1" spc="225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8746DA1F-78BD-5959-3255-3C2B3758EDE3}"/>
              </a:ext>
            </a:extLst>
          </p:cNvPr>
          <p:cNvSpPr txBox="1"/>
          <p:nvPr/>
        </p:nvSpPr>
        <p:spPr>
          <a:xfrm>
            <a:off x="1807870" y="5221960"/>
            <a:ext cx="9896450" cy="758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marR="5080" indent="-317500">
              <a:lnSpc>
                <a:spcPct val="114999"/>
              </a:lnSpc>
              <a:spcBef>
                <a:spcPts val="10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95" dirty="0">
                <a:latin typeface="Arial MT"/>
                <a:cs typeface="Arial MT"/>
              </a:rPr>
              <a:t>desired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spc="145" dirty="0">
                <a:latin typeface="Arial MT"/>
                <a:cs typeface="Arial MT"/>
              </a:rPr>
              <a:t>state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will </a:t>
            </a:r>
            <a:r>
              <a:rPr sz="2200" spc="114" dirty="0">
                <a:latin typeface="Arial MT"/>
                <a:cs typeface="Arial MT"/>
              </a:rPr>
              <a:t>be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90" dirty="0">
                <a:latin typeface="Arial MT"/>
                <a:cs typeface="Arial MT"/>
              </a:rPr>
              <a:t>caught.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60" dirty="0">
                <a:latin typeface="Arial MT"/>
                <a:cs typeface="Arial MT"/>
              </a:rPr>
              <a:t>But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145" dirty="0">
                <a:latin typeface="Arial MT"/>
                <a:cs typeface="Arial MT"/>
              </a:rPr>
              <a:t>the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85" dirty="0">
                <a:latin typeface="Arial MT"/>
                <a:cs typeface="Arial MT"/>
              </a:rPr>
              <a:t>probability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160" dirty="0">
                <a:latin typeface="Arial MT"/>
                <a:cs typeface="Arial MT"/>
              </a:rPr>
              <a:t>of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75" dirty="0">
                <a:latin typeface="Arial MT"/>
                <a:cs typeface="Arial MT"/>
              </a:rPr>
              <a:t>measuring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spc="125" dirty="0">
                <a:latin typeface="Arial MT"/>
                <a:cs typeface="Arial MT"/>
              </a:rPr>
              <a:t>it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114" dirty="0">
                <a:latin typeface="Arial MT"/>
                <a:cs typeface="Arial MT"/>
              </a:rPr>
              <a:t>correctly </a:t>
            </a:r>
            <a:r>
              <a:rPr sz="2200" spc="100" dirty="0">
                <a:latin typeface="Arial MT"/>
                <a:cs typeface="Arial MT"/>
              </a:rPr>
              <a:t>depends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spc="105" dirty="0">
                <a:latin typeface="Arial MT"/>
                <a:cs typeface="Arial MT"/>
              </a:rPr>
              <a:t>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110" dirty="0">
                <a:latin typeface="Arial MT"/>
                <a:cs typeface="Arial MT"/>
              </a:rPr>
              <a:t>its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85" dirty="0">
                <a:latin typeface="Arial MT"/>
                <a:cs typeface="Arial MT"/>
              </a:rPr>
              <a:t>magnitude,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85" dirty="0">
                <a:latin typeface="Arial MT"/>
                <a:cs typeface="Arial MT"/>
              </a:rPr>
              <a:t>which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60" dirty="0">
                <a:latin typeface="Arial MT"/>
                <a:cs typeface="Arial MT"/>
              </a:rPr>
              <a:t>is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b="1" spc="-10" dirty="0">
                <a:latin typeface="Arial"/>
                <a:cs typeface="Arial"/>
              </a:rPr>
              <a:t>1/</a:t>
            </a:r>
            <a:r>
              <a:rPr sz="2200" spc="-10" dirty="0">
                <a:latin typeface="Cambria Math"/>
                <a:cs typeface="Cambria Math"/>
              </a:rPr>
              <a:t>√</a:t>
            </a:r>
            <a:r>
              <a:rPr sz="2200" b="1" spc="-10" dirty="0">
                <a:latin typeface="Arial"/>
                <a:cs typeface="Arial"/>
              </a:rPr>
              <a:t>N</a:t>
            </a:r>
            <a:r>
              <a:rPr sz="2200" spc="-10" dirty="0">
                <a:latin typeface="Arial MT"/>
                <a:cs typeface="Arial MT"/>
              </a:rPr>
              <a:t>.</a:t>
            </a:r>
            <a:endParaRPr sz="2200" dirty="0">
              <a:latin typeface="Arial MT"/>
              <a:cs typeface="Arial MT"/>
            </a:endParaRPr>
          </a:p>
        </p:txBody>
      </p:sp>
      <p:pic>
        <p:nvPicPr>
          <p:cNvPr id="10" name="object 4">
            <a:extLst>
              <a:ext uri="{FF2B5EF4-FFF2-40B4-BE49-F238E27FC236}">
                <a16:creationId xmlns:a16="http://schemas.microsoft.com/office/drawing/2014/main" id="{12727B91-3826-E7A6-003A-1DCB298FA36C}"/>
              </a:ext>
            </a:extLst>
          </p:cNvPr>
          <p:cNvPicPr/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2221166" y="1559442"/>
            <a:ext cx="8477314" cy="331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A0ACADD-CC4E-851C-DA07-C22DB97FA23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6" name="object 2">
            <a:extLst>
              <a:ext uri="{FF2B5EF4-FFF2-40B4-BE49-F238E27FC236}">
                <a16:creationId xmlns:a16="http://schemas.microsoft.com/office/drawing/2014/main" id="{6BA9DB3B-BEDC-8FC5-EBCD-64D212044B6B}"/>
              </a:ext>
            </a:extLst>
          </p:cNvPr>
          <p:cNvPicPr/>
          <p:nvPr/>
        </p:nvPicPr>
        <p:blipFill>
          <a:blip r:embed="rId3" cstate="print">
            <a:biLevel thresh="75000"/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59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3119" y="4229443"/>
            <a:ext cx="3934776" cy="2126906"/>
          </a:xfrm>
          <a:prstGeom prst="rect">
            <a:avLst/>
          </a:prstGeom>
        </p:spPr>
      </p:pic>
      <p:sp>
        <p:nvSpPr>
          <p:cNvPr id="17" name="object 3">
            <a:extLst>
              <a:ext uri="{FF2B5EF4-FFF2-40B4-BE49-F238E27FC236}">
                <a16:creationId xmlns:a16="http://schemas.microsoft.com/office/drawing/2014/main" id="{9FA51EBD-1DB1-38F1-643A-ADA0AE8820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2110" y="1275965"/>
            <a:ext cx="6854825" cy="452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225"/>
              <a:t>Algorithm</a:t>
            </a:r>
            <a:r>
              <a:rPr b="1" spc="-254"/>
              <a:t> </a:t>
            </a:r>
            <a:r>
              <a:rPr b="1" spc="330"/>
              <a:t>Steps</a:t>
            </a:r>
            <a:r>
              <a:rPr b="1" spc="-215"/>
              <a:t> </a:t>
            </a:r>
            <a:endParaRPr b="1" spc="225"/>
          </a:p>
        </p:txBody>
      </p:sp>
      <p:sp>
        <p:nvSpPr>
          <p:cNvPr id="18" name="object 4">
            <a:extLst>
              <a:ext uri="{FF2B5EF4-FFF2-40B4-BE49-F238E27FC236}">
                <a16:creationId xmlns:a16="http://schemas.microsoft.com/office/drawing/2014/main" id="{232E5219-2646-370B-BA1B-4D7F17A60E39}"/>
              </a:ext>
            </a:extLst>
          </p:cNvPr>
          <p:cNvSpPr txBox="1"/>
          <p:nvPr/>
        </p:nvSpPr>
        <p:spPr>
          <a:xfrm>
            <a:off x="1442110" y="2169668"/>
            <a:ext cx="7861910" cy="15677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5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400" spc="60" dirty="0">
                <a:latin typeface="Arial MT"/>
                <a:cs typeface="Arial MT"/>
              </a:rPr>
              <a:t>Grover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80" dirty="0">
                <a:latin typeface="Arial MT"/>
                <a:cs typeface="Arial MT"/>
              </a:rPr>
              <a:t>has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70" dirty="0">
                <a:latin typeface="Arial MT"/>
                <a:cs typeface="Arial MT"/>
              </a:rPr>
              <a:t>given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60" dirty="0">
                <a:latin typeface="Arial MT"/>
                <a:cs typeface="Arial MT"/>
              </a:rPr>
              <a:t>ways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180" dirty="0">
                <a:latin typeface="Arial MT"/>
                <a:cs typeface="Arial MT"/>
              </a:rPr>
              <a:t>to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85" dirty="0">
                <a:latin typeface="Arial MT"/>
                <a:cs typeface="Arial MT"/>
              </a:rPr>
              <a:t>improve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75" dirty="0">
                <a:latin typeface="Arial MT"/>
                <a:cs typeface="Arial MT"/>
              </a:rPr>
              <a:t>(amplify)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105" dirty="0">
                <a:latin typeface="Arial MT"/>
                <a:cs typeface="Arial MT"/>
              </a:rPr>
              <a:t>this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65" dirty="0">
                <a:latin typeface="Arial MT"/>
                <a:cs typeface="Arial MT"/>
              </a:rPr>
              <a:t>amplitude:</a:t>
            </a:r>
            <a:endParaRPr sz="2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75"/>
              </a:spcBef>
              <a:buClr>
                <a:srgbClr val="001A6F"/>
              </a:buClr>
              <a:buFont typeface="Times New Roman"/>
              <a:buChar char="●"/>
            </a:pPr>
            <a:endParaRPr sz="2400" dirty="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buFont typeface="Times New Roman"/>
              <a:buChar char="●"/>
              <a:tabLst>
                <a:tab pos="329565" algn="l"/>
              </a:tabLst>
            </a:pPr>
            <a:r>
              <a:rPr sz="2400" spc="95" dirty="0">
                <a:latin typeface="Arial MT"/>
                <a:cs typeface="Arial MT"/>
              </a:rPr>
              <a:t>State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19" name="object 5">
            <a:extLst>
              <a:ext uri="{FF2B5EF4-FFF2-40B4-BE49-F238E27FC236}">
                <a16:creationId xmlns:a16="http://schemas.microsoft.com/office/drawing/2014/main" id="{173C9E0C-B0D9-58B4-5702-2E5C57AEDC6E}"/>
              </a:ext>
            </a:extLst>
          </p:cNvPr>
          <p:cNvPicPr/>
          <p:nvPr/>
        </p:nvPicPr>
        <p:blipFill>
          <a:blip r:embed="rId5" cstate="print">
            <a:biLevel thresh="7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90347" y="3076647"/>
            <a:ext cx="2693233" cy="1017285"/>
          </a:xfrm>
          <a:prstGeom prst="rect">
            <a:avLst/>
          </a:prstGeom>
        </p:spPr>
      </p:pic>
      <p:pic>
        <p:nvPicPr>
          <p:cNvPr id="20" name="object 6">
            <a:extLst>
              <a:ext uri="{FF2B5EF4-FFF2-40B4-BE49-F238E27FC236}">
                <a16:creationId xmlns:a16="http://schemas.microsoft.com/office/drawing/2014/main" id="{39613C4A-8B87-D430-0993-2ADC0DBA9527}"/>
              </a:ext>
            </a:extLst>
          </p:cNvPr>
          <p:cNvPicPr/>
          <p:nvPr/>
        </p:nvPicPr>
        <p:blipFill>
          <a:blip r:embed="rId7" cstate="print">
            <a:biLevel thresh="75000"/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112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26773" y="3972289"/>
            <a:ext cx="4954493" cy="264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2980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AEC6EC-9E85-D5BF-D508-1C62393FF903}"/>
              </a:ext>
            </a:extLst>
          </p:cNvPr>
          <p:cNvSpPr txBox="1"/>
          <p:nvPr/>
        </p:nvSpPr>
        <p:spPr>
          <a:xfrm>
            <a:off x="6386052" y="2305615"/>
            <a:ext cx="54421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Grover’s Two Tricks</a:t>
            </a:r>
            <a:endParaRPr lang="en-US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Phase inversion(Phase Flip)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Inversion about the mean(Diffusion)</a:t>
            </a:r>
          </a:p>
          <a:p>
            <a:endParaRPr 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489136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77276-6193-C746-1F5B-81FAD5A9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84481C-55D4-76AF-FF9D-380A64BA0EE3}"/>
              </a:ext>
            </a:extLst>
          </p:cNvPr>
          <p:cNvSpPr txBox="1"/>
          <p:nvPr/>
        </p:nvSpPr>
        <p:spPr>
          <a:xfrm>
            <a:off x="5084506" y="958334"/>
            <a:ext cx="60984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Phase inversion</a:t>
            </a:r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BC40A18C-38D9-C1D0-3DEC-560525872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640" y="1879799"/>
            <a:ext cx="9458719" cy="29130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13912F-D8F9-67B8-638E-0E65A9B92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691" y="5134940"/>
            <a:ext cx="3424742" cy="8739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97887D-18FB-A077-4B42-C60FC1E8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4019" y="5098836"/>
            <a:ext cx="1832787" cy="6067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A11464-C3BA-FDE2-8884-386A3ACC7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4103" y="5067265"/>
            <a:ext cx="4008861" cy="87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68040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2DC965-E2B8-8CD9-AFAE-3D892D186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6899" y="1209368"/>
            <a:ext cx="7628416" cy="1644170"/>
          </a:xfrm>
          <a:prstGeom prst="rect">
            <a:avLst/>
          </a:prstGeom>
        </p:spPr>
      </p:pic>
      <p:pic>
        <p:nvPicPr>
          <p:cNvPr id="8" name="Content Placeholder 6">
            <a:extLst>
              <a:ext uri="{FF2B5EF4-FFF2-40B4-BE49-F238E27FC236}">
                <a16:creationId xmlns:a16="http://schemas.microsoft.com/office/drawing/2014/main" id="{6C8626B9-5B4C-8681-3D25-D0097CBD0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899" y="3297321"/>
            <a:ext cx="7628416" cy="21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2052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4B0ADB-527F-A58C-9372-D8502ED6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1C14DC5C-F17E-36BA-0725-83F169A8C2C9}"/>
              </a:ext>
            </a:extLst>
          </p:cNvPr>
          <p:cNvPicPr/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1946529" y="4533136"/>
            <a:ext cx="3928491" cy="2188337"/>
          </a:xfrm>
          <a:prstGeom prst="rect">
            <a:avLst/>
          </a:prstGeom>
        </p:spPr>
      </p:pic>
      <p:sp>
        <p:nvSpPr>
          <p:cNvPr id="13" name="object 4">
            <a:extLst>
              <a:ext uri="{FF2B5EF4-FFF2-40B4-BE49-F238E27FC236}">
                <a16:creationId xmlns:a16="http://schemas.microsoft.com/office/drawing/2014/main" id="{85996658-AC80-EF9A-EFB8-1C1A40454241}"/>
              </a:ext>
            </a:extLst>
          </p:cNvPr>
          <p:cNvSpPr txBox="1"/>
          <p:nvPr/>
        </p:nvSpPr>
        <p:spPr>
          <a:xfrm>
            <a:off x="1195094" y="1210413"/>
            <a:ext cx="10600666" cy="268862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5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200" dirty="0">
                <a:cs typeface="Arial MT"/>
              </a:rPr>
              <a:t>Shows</a:t>
            </a:r>
            <a:r>
              <a:rPr sz="2200" spc="-25" dirty="0">
                <a:cs typeface="Arial MT"/>
              </a:rPr>
              <a:t> </a:t>
            </a:r>
            <a:r>
              <a:rPr sz="2200" spc="125" dirty="0">
                <a:cs typeface="Arial MT"/>
              </a:rPr>
              <a:t>rotation</a:t>
            </a:r>
            <a:r>
              <a:rPr sz="2200" spc="-25" dirty="0">
                <a:cs typeface="Arial MT"/>
              </a:rPr>
              <a:t> </a:t>
            </a:r>
            <a:r>
              <a:rPr sz="2200" spc="160" dirty="0">
                <a:cs typeface="Arial MT"/>
              </a:rPr>
              <a:t>of</a:t>
            </a:r>
            <a:r>
              <a:rPr sz="2200" spc="-10" dirty="0">
                <a:cs typeface="Arial MT"/>
              </a:rPr>
              <a:t> </a:t>
            </a:r>
            <a:r>
              <a:rPr sz="2200" spc="50" dirty="0">
                <a:cs typeface="Arial MT"/>
              </a:rPr>
              <a:t>|s&gt;</a:t>
            </a:r>
            <a:r>
              <a:rPr sz="2200" spc="5" dirty="0">
                <a:cs typeface="Arial MT"/>
              </a:rPr>
              <a:t> </a:t>
            </a:r>
            <a:r>
              <a:rPr sz="2200" spc="95" dirty="0">
                <a:cs typeface="Arial MT"/>
              </a:rPr>
              <a:t>with</a:t>
            </a:r>
            <a:r>
              <a:rPr sz="2200" spc="5" dirty="0">
                <a:cs typeface="Arial MT"/>
              </a:rPr>
              <a:t> </a:t>
            </a:r>
            <a:r>
              <a:rPr sz="2200" spc="135" dirty="0">
                <a:cs typeface="Arial MT"/>
              </a:rPr>
              <a:t>respect</a:t>
            </a:r>
            <a:r>
              <a:rPr sz="2200" spc="-30" dirty="0">
                <a:cs typeface="Arial MT"/>
              </a:rPr>
              <a:t> </a:t>
            </a:r>
            <a:r>
              <a:rPr sz="2200" spc="180" dirty="0">
                <a:cs typeface="Arial MT"/>
              </a:rPr>
              <a:t>to</a:t>
            </a:r>
            <a:r>
              <a:rPr sz="2200" spc="-10" dirty="0">
                <a:cs typeface="Arial MT"/>
              </a:rPr>
              <a:t> </a:t>
            </a:r>
            <a:r>
              <a:rPr sz="2200" spc="-20" dirty="0">
                <a:cs typeface="Arial MT"/>
              </a:rPr>
              <a:t>|s’&gt;</a:t>
            </a:r>
            <a:endParaRPr lang="en-US" sz="2200" spc="-20" dirty="0"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329565" algn="l"/>
              </a:tabLst>
            </a:pPr>
            <a:endParaRPr sz="2200" dirty="0">
              <a:cs typeface="Arial MT"/>
            </a:endParaRPr>
          </a:p>
          <a:p>
            <a:pPr marL="329565" indent="-316865">
              <a:lnSpc>
                <a:spcPct val="100000"/>
              </a:lnSpc>
              <a:spcBef>
                <a:spcPts val="25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200" b="1" dirty="0">
                <a:cs typeface="Arial MT"/>
              </a:rPr>
              <a:t>Visuals</a:t>
            </a:r>
            <a:r>
              <a:rPr sz="2200" b="1" spc="45" dirty="0">
                <a:cs typeface="Arial MT"/>
              </a:rPr>
              <a:t> </a:t>
            </a:r>
            <a:r>
              <a:rPr sz="2200" b="1" spc="160" dirty="0">
                <a:cs typeface="Arial MT"/>
              </a:rPr>
              <a:t>of</a:t>
            </a:r>
            <a:r>
              <a:rPr sz="2200" b="1" spc="45" dirty="0">
                <a:cs typeface="Arial MT"/>
              </a:rPr>
              <a:t> </a:t>
            </a:r>
            <a:r>
              <a:rPr sz="2200" b="1" spc="90" dirty="0">
                <a:cs typeface="Arial MT"/>
              </a:rPr>
              <a:t>amplitude</a:t>
            </a:r>
            <a:r>
              <a:rPr sz="2200" b="1" spc="35" dirty="0">
                <a:cs typeface="Arial MT"/>
              </a:rPr>
              <a:t> </a:t>
            </a:r>
            <a:r>
              <a:rPr sz="2200" b="1" spc="55" dirty="0">
                <a:cs typeface="Arial MT"/>
              </a:rPr>
              <a:t>bars:</a:t>
            </a:r>
            <a:endParaRPr lang="en-US" sz="2200" b="1" spc="55" dirty="0"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329565" algn="l"/>
              </a:tabLst>
            </a:pPr>
            <a:endParaRPr lang="en-US" sz="2200" dirty="0">
              <a:cs typeface="Arial MT"/>
            </a:endParaRPr>
          </a:p>
          <a:p>
            <a:pPr marL="786765" lvl="1" indent="-317500">
              <a:lnSpc>
                <a:spcPct val="100000"/>
              </a:lnSpc>
              <a:spcBef>
                <a:spcPts val="110"/>
              </a:spcBef>
              <a:buFont typeface="Times New Roman"/>
              <a:buChar char="○"/>
              <a:tabLst>
                <a:tab pos="786765" algn="l"/>
              </a:tabLst>
            </a:pPr>
            <a:r>
              <a:rPr sz="2200" spc="10" dirty="0">
                <a:cs typeface="Arial MT"/>
              </a:rPr>
              <a:t>Initially:</a:t>
            </a:r>
            <a:r>
              <a:rPr sz="2200" spc="5" dirty="0">
                <a:cs typeface="Arial MT"/>
              </a:rPr>
              <a:t> </a:t>
            </a:r>
            <a:r>
              <a:rPr sz="2200" spc="10" dirty="0">
                <a:cs typeface="Arial MT"/>
              </a:rPr>
              <a:t>All</a:t>
            </a:r>
            <a:r>
              <a:rPr sz="2200" spc="20" dirty="0">
                <a:cs typeface="Arial MT"/>
              </a:rPr>
              <a:t> </a:t>
            </a:r>
            <a:r>
              <a:rPr sz="2200" spc="135" dirty="0">
                <a:cs typeface="Arial MT"/>
              </a:rPr>
              <a:t>states</a:t>
            </a:r>
            <a:r>
              <a:rPr sz="2200" spc="-20" dirty="0">
                <a:cs typeface="Arial MT"/>
              </a:rPr>
              <a:t> </a:t>
            </a:r>
            <a:r>
              <a:rPr sz="2200" spc="80" dirty="0">
                <a:cs typeface="Arial MT"/>
              </a:rPr>
              <a:t>have</a:t>
            </a:r>
            <a:r>
              <a:rPr sz="2200" spc="-15" dirty="0">
                <a:cs typeface="Arial MT"/>
              </a:rPr>
              <a:t> </a:t>
            </a:r>
            <a:r>
              <a:rPr sz="2200" spc="75" dirty="0">
                <a:cs typeface="Arial MT"/>
              </a:rPr>
              <a:t>equal</a:t>
            </a:r>
            <a:r>
              <a:rPr sz="2200" spc="-5" dirty="0">
                <a:cs typeface="Arial MT"/>
              </a:rPr>
              <a:t> </a:t>
            </a:r>
            <a:r>
              <a:rPr sz="2200" spc="90" dirty="0">
                <a:cs typeface="Arial MT"/>
              </a:rPr>
              <a:t>amplitude</a:t>
            </a:r>
            <a:r>
              <a:rPr sz="2200" spc="-15" dirty="0">
                <a:cs typeface="Arial MT"/>
              </a:rPr>
              <a:t> </a:t>
            </a:r>
            <a:r>
              <a:rPr sz="2200" spc="10" dirty="0">
                <a:cs typeface="Arial MT"/>
              </a:rPr>
              <a:t>= </a:t>
            </a:r>
            <a:r>
              <a:rPr sz="2200" spc="-20" dirty="0">
                <a:cs typeface="Arial MT"/>
              </a:rPr>
              <a:t>1/</a:t>
            </a:r>
            <a:r>
              <a:rPr sz="2200" spc="-20" dirty="0">
                <a:cs typeface="Cambria Math"/>
              </a:rPr>
              <a:t>√</a:t>
            </a:r>
            <a:r>
              <a:rPr sz="2200" spc="-20" dirty="0">
                <a:cs typeface="Arial MT"/>
              </a:rPr>
              <a:t>N</a:t>
            </a:r>
            <a:endParaRPr lang="en-US" sz="2200" spc="-20" dirty="0">
              <a:cs typeface="Arial MT"/>
            </a:endParaRPr>
          </a:p>
          <a:p>
            <a:pPr marL="469265" lvl="1">
              <a:lnSpc>
                <a:spcPct val="100000"/>
              </a:lnSpc>
              <a:spcBef>
                <a:spcPts val="110"/>
              </a:spcBef>
              <a:tabLst>
                <a:tab pos="786765" algn="l"/>
              </a:tabLst>
            </a:pPr>
            <a:endParaRPr lang="en-US" sz="2200" dirty="0">
              <a:cs typeface="Arial MT"/>
            </a:endParaRPr>
          </a:p>
          <a:p>
            <a:pPr marL="786765" marR="5080" lvl="1" indent="-317500">
              <a:lnSpc>
                <a:spcPts val="1670"/>
              </a:lnSpc>
              <a:spcBef>
                <a:spcPts val="65"/>
              </a:spcBef>
              <a:buFont typeface="Times New Roman"/>
              <a:buChar char="○"/>
              <a:tabLst>
                <a:tab pos="786765" algn="l"/>
              </a:tabLst>
            </a:pPr>
            <a:r>
              <a:rPr sz="2200" spc="110" dirty="0">
                <a:cs typeface="Arial MT"/>
              </a:rPr>
              <a:t>After</a:t>
            </a:r>
            <a:r>
              <a:rPr sz="2200" spc="-35" dirty="0">
                <a:cs typeface="Arial MT"/>
              </a:rPr>
              <a:t> </a:t>
            </a:r>
            <a:r>
              <a:rPr sz="2200" spc="85" dirty="0">
                <a:cs typeface="Arial MT"/>
              </a:rPr>
              <a:t>amplification:</a:t>
            </a:r>
            <a:r>
              <a:rPr sz="2200" spc="-55" dirty="0">
                <a:cs typeface="Arial MT"/>
              </a:rPr>
              <a:t> </a:t>
            </a:r>
            <a:r>
              <a:rPr sz="2200" spc="60" dirty="0">
                <a:cs typeface="Arial MT"/>
              </a:rPr>
              <a:t>Desired</a:t>
            </a:r>
            <a:r>
              <a:rPr sz="2200" spc="-60" dirty="0">
                <a:cs typeface="Arial MT"/>
              </a:rPr>
              <a:t> </a:t>
            </a:r>
            <a:r>
              <a:rPr sz="2200" spc="145" dirty="0">
                <a:cs typeface="Arial MT"/>
              </a:rPr>
              <a:t>state</a:t>
            </a:r>
            <a:r>
              <a:rPr sz="2200" spc="-30" dirty="0">
                <a:cs typeface="Arial MT"/>
              </a:rPr>
              <a:t> </a:t>
            </a:r>
            <a:r>
              <a:rPr sz="2200" spc="125" dirty="0">
                <a:cs typeface="Arial MT"/>
              </a:rPr>
              <a:t>gets</a:t>
            </a:r>
            <a:r>
              <a:rPr sz="2200" spc="-55" dirty="0">
                <a:cs typeface="Arial MT"/>
              </a:rPr>
              <a:t> </a:t>
            </a:r>
            <a:r>
              <a:rPr sz="2200" spc="75" dirty="0">
                <a:cs typeface="Arial MT"/>
              </a:rPr>
              <a:t>a</a:t>
            </a:r>
            <a:r>
              <a:rPr sz="2200" spc="-25" dirty="0">
                <a:cs typeface="Arial MT"/>
              </a:rPr>
              <a:t> </a:t>
            </a:r>
            <a:r>
              <a:rPr sz="2200" spc="85" dirty="0">
                <a:cs typeface="Arial MT"/>
              </a:rPr>
              <a:t>higher</a:t>
            </a:r>
            <a:r>
              <a:rPr sz="2200" spc="-40" dirty="0">
                <a:cs typeface="Arial MT"/>
              </a:rPr>
              <a:t> </a:t>
            </a:r>
            <a:r>
              <a:rPr sz="2200" spc="90" dirty="0">
                <a:cs typeface="Arial MT"/>
              </a:rPr>
              <a:t>amplitude</a:t>
            </a:r>
            <a:r>
              <a:rPr sz="2200" spc="-50" dirty="0">
                <a:cs typeface="Arial MT"/>
              </a:rPr>
              <a:t> </a:t>
            </a:r>
            <a:r>
              <a:rPr sz="2200" dirty="0">
                <a:cs typeface="Arial MT"/>
              </a:rPr>
              <a:t>&gt;</a:t>
            </a:r>
            <a:r>
              <a:rPr sz="2200" spc="-25" dirty="0">
                <a:cs typeface="Arial MT"/>
              </a:rPr>
              <a:t> </a:t>
            </a:r>
            <a:r>
              <a:rPr sz="2200" spc="-10" dirty="0">
                <a:cs typeface="Arial MT"/>
              </a:rPr>
              <a:t>1/</a:t>
            </a:r>
            <a:r>
              <a:rPr sz="2200" spc="-10" dirty="0">
                <a:cs typeface="Cambria Math"/>
              </a:rPr>
              <a:t>√</a:t>
            </a:r>
            <a:r>
              <a:rPr sz="2200" spc="-10" dirty="0">
                <a:cs typeface="Arial MT"/>
              </a:rPr>
              <a:t>N,</a:t>
            </a:r>
            <a:r>
              <a:rPr sz="2200" spc="-25" dirty="0">
                <a:cs typeface="Arial MT"/>
              </a:rPr>
              <a:t> </a:t>
            </a:r>
            <a:r>
              <a:rPr sz="2200" spc="60" dirty="0">
                <a:cs typeface="Arial MT"/>
              </a:rPr>
              <a:t>while </a:t>
            </a:r>
            <a:r>
              <a:rPr sz="2200" spc="125" dirty="0">
                <a:cs typeface="Arial MT"/>
              </a:rPr>
              <a:t>others</a:t>
            </a:r>
            <a:r>
              <a:rPr sz="2200" spc="-55" dirty="0">
                <a:cs typeface="Arial MT"/>
              </a:rPr>
              <a:t> </a:t>
            </a:r>
            <a:r>
              <a:rPr sz="2200" spc="100" dirty="0">
                <a:cs typeface="Arial MT"/>
              </a:rPr>
              <a:t>are</a:t>
            </a:r>
            <a:r>
              <a:rPr sz="2200" spc="-50" dirty="0">
                <a:cs typeface="Arial MT"/>
              </a:rPr>
              <a:t> </a:t>
            </a:r>
            <a:r>
              <a:rPr sz="2200" spc="75" dirty="0">
                <a:cs typeface="Arial MT"/>
              </a:rPr>
              <a:t>suppressed.</a:t>
            </a:r>
            <a:endParaRPr sz="2200" dirty="0">
              <a:cs typeface="Arial MT"/>
            </a:endParaRPr>
          </a:p>
        </p:txBody>
      </p:sp>
      <p:pic>
        <p:nvPicPr>
          <p:cNvPr id="14" name="object 5">
            <a:extLst>
              <a:ext uri="{FF2B5EF4-FFF2-40B4-BE49-F238E27FC236}">
                <a16:creationId xmlns:a16="http://schemas.microsoft.com/office/drawing/2014/main" id="{E249A406-538B-C4EF-6EB3-D39C7C202DE0}"/>
              </a:ext>
            </a:extLst>
          </p:cNvPr>
          <p:cNvPicPr/>
          <p:nvPr/>
        </p:nvPicPr>
        <p:blipFill>
          <a:blip r:embed="rId4" cstate="print">
            <a:biLevel thresh="75000"/>
          </a:blip>
          <a:stretch>
            <a:fillRect/>
          </a:stretch>
        </p:blipFill>
        <p:spPr>
          <a:xfrm>
            <a:off x="6858000" y="4414519"/>
            <a:ext cx="4937759" cy="2306954"/>
          </a:xfrm>
          <a:prstGeom prst="rect">
            <a:avLst/>
          </a:prstGeom>
        </p:spPr>
      </p:pic>
      <p:sp>
        <p:nvSpPr>
          <p:cNvPr id="17" name="object 3">
            <a:extLst>
              <a:ext uri="{FF2B5EF4-FFF2-40B4-BE49-F238E27FC236}">
                <a16:creationId xmlns:a16="http://schemas.microsoft.com/office/drawing/2014/main" id="{4F71C010-8348-CFD3-12E9-07E8C9CAFD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10821" y="442615"/>
            <a:ext cx="6854825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/>
              <a:t>Diffusion</a:t>
            </a:r>
            <a:endParaRPr sz="2800" b="1" spc="225" dirty="0"/>
          </a:p>
        </p:txBody>
      </p:sp>
    </p:spTree>
    <p:extLst>
      <p:ext uri="{BB962C8B-B14F-4D97-AF65-F5344CB8AC3E}">
        <p14:creationId xmlns:p14="http://schemas.microsoft.com/office/powerpoint/2010/main" val="1658164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7D84-2D02-96D9-C265-C6AE19368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3">
            <a:extLst>
              <a:ext uri="{FF2B5EF4-FFF2-40B4-BE49-F238E27FC236}">
                <a16:creationId xmlns:a16="http://schemas.microsoft.com/office/drawing/2014/main" id="{74909548-3C03-E37A-9212-696A5CA392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29455" y="576311"/>
            <a:ext cx="6854825" cy="4521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225"/>
              <a:t>Algorithm</a:t>
            </a:r>
            <a:r>
              <a:rPr sz="2800" b="1" spc="-254"/>
              <a:t> </a:t>
            </a:r>
            <a:r>
              <a:rPr sz="2800" b="1" spc="330"/>
              <a:t>Steps</a:t>
            </a:r>
            <a:r>
              <a:rPr sz="2800" b="1" spc="-215"/>
              <a:t> </a:t>
            </a:r>
            <a:endParaRPr sz="2800" b="1" spc="225"/>
          </a:p>
        </p:txBody>
      </p:sp>
      <p:pic>
        <p:nvPicPr>
          <p:cNvPr id="2" name="object 2">
            <a:extLst>
              <a:ext uri="{FF2B5EF4-FFF2-40B4-BE49-F238E27FC236}">
                <a16:creationId xmlns:a16="http://schemas.microsoft.com/office/drawing/2014/main" id="{953801B7-E151-FB2B-D8CE-F3D33EA2B133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chemeClr val="tx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4321" y="1278242"/>
            <a:ext cx="10389959" cy="5003447"/>
          </a:xfrm>
          <a:prstGeom prst="rect">
            <a:avLst/>
          </a:prstGeom>
        </p:spPr>
      </p:pic>
      <p:pic>
        <p:nvPicPr>
          <p:cNvPr id="3" name="object 5">
            <a:extLst>
              <a:ext uri="{FF2B5EF4-FFF2-40B4-BE49-F238E27FC236}">
                <a16:creationId xmlns:a16="http://schemas.microsoft.com/office/drawing/2014/main" id="{DC82385E-D488-2909-1088-A05BA85CF3E6}"/>
              </a:ext>
            </a:extLst>
          </p:cNvPr>
          <p:cNvPicPr/>
          <p:nvPr/>
        </p:nvPicPr>
        <p:blipFill>
          <a:blip r:embed="rId5" cstate="print">
            <a:biLevel thresh="75000"/>
          </a:blip>
          <a:stretch>
            <a:fillRect/>
          </a:stretch>
        </p:blipFill>
        <p:spPr>
          <a:xfrm>
            <a:off x="1211618" y="1965960"/>
            <a:ext cx="10172662" cy="2918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1181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AC5B9-B264-AFA9-E6CF-3B427AAB6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2">
            <a:extLst>
              <a:ext uri="{FF2B5EF4-FFF2-40B4-BE49-F238E27FC236}">
                <a16:creationId xmlns:a16="http://schemas.microsoft.com/office/drawing/2014/main" id="{A2E1D291-0CDF-33B6-25BB-13BC0DF5F025}"/>
              </a:ext>
            </a:extLst>
          </p:cNvPr>
          <p:cNvPicPr/>
          <p:nvPr/>
        </p:nvPicPr>
        <p:blipFill>
          <a:blip r:embed="rId3" cstate="print">
            <a:biLevel thresh="50000"/>
          </a:blip>
          <a:stretch>
            <a:fillRect/>
          </a:stretch>
        </p:blipFill>
        <p:spPr>
          <a:xfrm>
            <a:off x="712381" y="1269187"/>
            <a:ext cx="11471999" cy="5588813"/>
          </a:xfrm>
          <a:prstGeom prst="rect">
            <a:avLst/>
          </a:prstGeom>
        </p:spPr>
      </p:pic>
      <p:sp>
        <p:nvSpPr>
          <p:cNvPr id="11" name="object 3">
            <a:extLst>
              <a:ext uri="{FF2B5EF4-FFF2-40B4-BE49-F238E27FC236}">
                <a16:creationId xmlns:a16="http://schemas.microsoft.com/office/drawing/2014/main" id="{09385992-B05D-5733-278F-CEB7A7B2B3DE}"/>
              </a:ext>
            </a:extLst>
          </p:cNvPr>
          <p:cNvSpPr txBox="1">
            <a:spLocks/>
          </p:cNvSpPr>
          <p:nvPr/>
        </p:nvSpPr>
        <p:spPr>
          <a:xfrm>
            <a:off x="3902927" y="533310"/>
            <a:ext cx="9329118" cy="44307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sz="2800" b="1" spc="210"/>
              <a:t>Algorithm’s</a:t>
            </a:r>
            <a:r>
              <a:rPr lang="en-US" sz="2800" b="1" spc="-215"/>
              <a:t> </a:t>
            </a:r>
            <a:r>
              <a:rPr lang="en-US" sz="2800" b="1" spc="350"/>
              <a:t>steps</a:t>
            </a:r>
            <a:endParaRPr lang="en-US" sz="2800" b="1" spc="310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22221FEE-E909-0885-A155-DEEC5EE98F98}"/>
              </a:ext>
            </a:extLst>
          </p:cNvPr>
          <p:cNvSpPr txBox="1"/>
          <p:nvPr/>
        </p:nvSpPr>
        <p:spPr>
          <a:xfrm>
            <a:off x="951889" y="1102868"/>
            <a:ext cx="160749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50">
                <a:solidFill>
                  <a:srgbClr val="001A6F"/>
                </a:solidFill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3" name="object 5">
            <a:extLst>
              <a:ext uri="{FF2B5EF4-FFF2-40B4-BE49-F238E27FC236}">
                <a16:creationId xmlns:a16="http://schemas.microsoft.com/office/drawing/2014/main" id="{F8A4ADC6-901C-2DE5-7B7E-1E8BF8663488}"/>
              </a:ext>
            </a:extLst>
          </p:cNvPr>
          <p:cNvPicPr/>
          <p:nvPr/>
        </p:nvPicPr>
        <p:blipFill>
          <a:blip r:embed="rId4" cstate="print">
            <a:biLevel thresh="75000"/>
          </a:blip>
          <a:stretch>
            <a:fillRect/>
          </a:stretch>
        </p:blipFill>
        <p:spPr>
          <a:xfrm>
            <a:off x="4268687" y="2250756"/>
            <a:ext cx="2553073" cy="1178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8914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832B776-E386-1CF9-CC8F-2D2FF3EA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DCC23D56-F9BF-1C25-0CE6-691842F1F349}"/>
              </a:ext>
            </a:extLst>
          </p:cNvPr>
          <p:cNvPicPr/>
          <p:nvPr/>
        </p:nvPicPr>
        <p:blipFill>
          <a:blip r:embed="rId3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376583" y="1027348"/>
            <a:ext cx="10984319" cy="6174822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214C4C09-7FF8-4E70-A814-734961BA4BE7}"/>
              </a:ext>
            </a:extLst>
          </p:cNvPr>
          <p:cNvSpPr txBox="1">
            <a:spLocks/>
          </p:cNvSpPr>
          <p:nvPr/>
        </p:nvSpPr>
        <p:spPr>
          <a:xfrm>
            <a:off x="1629733" y="502838"/>
            <a:ext cx="8932533" cy="452119"/>
          </a:xfrm>
          <a:prstGeom prst="rect">
            <a:avLst/>
          </a:prstGeom>
        </p:spPr>
        <p:txBody>
          <a:bodyPr vert="horz" wrap="square" lIns="0" tIns="12065" rIns="0" bIns="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95"/>
              </a:spcBef>
            </a:pPr>
            <a:r>
              <a:rPr lang="en-US" b="1" spc="215"/>
              <a:t>Algorithm’s</a:t>
            </a:r>
            <a:r>
              <a:rPr lang="en-US" b="1" spc="-220"/>
              <a:t> </a:t>
            </a:r>
            <a:r>
              <a:rPr lang="en-US" b="1" spc="350"/>
              <a:t>steps</a:t>
            </a:r>
            <a:endParaRPr lang="en-US" b="1" spc="310"/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D719321A-B1D0-5252-FB5D-93141018D9AD}"/>
              </a:ext>
            </a:extLst>
          </p:cNvPr>
          <p:cNvSpPr txBox="1"/>
          <p:nvPr/>
        </p:nvSpPr>
        <p:spPr>
          <a:xfrm>
            <a:off x="608472" y="2146808"/>
            <a:ext cx="153916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-50">
                <a:solidFill>
                  <a:srgbClr val="001A6F"/>
                </a:solidFill>
                <a:latin typeface="Times New Roman"/>
                <a:cs typeface="Times New Roman"/>
              </a:rPr>
              <a:t>●</a:t>
            </a:r>
            <a:endParaRPr sz="1400">
              <a:latin typeface="Times New Roman"/>
              <a:cs typeface="Times New Roman"/>
            </a:endParaRPr>
          </a:p>
        </p:txBody>
      </p:sp>
      <p:pic>
        <p:nvPicPr>
          <p:cNvPr id="11" name="object 5">
            <a:extLst>
              <a:ext uri="{FF2B5EF4-FFF2-40B4-BE49-F238E27FC236}">
                <a16:creationId xmlns:a16="http://schemas.microsoft.com/office/drawing/2014/main" id="{873BBED6-3BB0-B9F3-8046-EE88290508BA}"/>
              </a:ext>
            </a:extLst>
          </p:cNvPr>
          <p:cNvPicPr/>
          <p:nvPr/>
        </p:nvPicPr>
        <p:blipFill>
          <a:blip r:embed="rId4" cstate="print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371082" y="2766060"/>
            <a:ext cx="9989820" cy="329183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11BE21-E79F-664B-9BA1-1B37C6CE956E}"/>
              </a:ext>
            </a:extLst>
          </p:cNvPr>
          <p:cNvSpPr txBox="1"/>
          <p:nvPr/>
        </p:nvSpPr>
        <p:spPr>
          <a:xfrm flipH="1">
            <a:off x="6975986" y="1252457"/>
            <a:ext cx="4277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(Complexity) where</a:t>
            </a:r>
            <a:r>
              <a:rPr lang="en-US" sz="2000" dirty="0"/>
              <a:t> </a:t>
            </a:r>
            <a:r>
              <a:rPr lang="en-US" sz="2000" b="1" dirty="0"/>
              <a:t>K=⌊𝜋/4  √(𝑁/𝑎)​​⌋</a:t>
            </a:r>
          </a:p>
        </p:txBody>
      </p:sp>
    </p:spTree>
    <p:extLst>
      <p:ext uri="{BB962C8B-B14F-4D97-AF65-F5344CB8AC3E}">
        <p14:creationId xmlns:p14="http://schemas.microsoft.com/office/powerpoint/2010/main" val="2791821786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3">
            <a:extLst>
              <a:ext uri="{FF2B5EF4-FFF2-40B4-BE49-F238E27FC236}">
                <a16:creationId xmlns:a16="http://schemas.microsoft.com/office/drawing/2014/main" id="{244372C9-AF70-2440-2445-91FC12C45D3C}"/>
              </a:ext>
            </a:extLst>
          </p:cNvPr>
          <p:cNvSpPr txBox="1"/>
          <p:nvPr/>
        </p:nvSpPr>
        <p:spPr>
          <a:xfrm>
            <a:off x="631468" y="1434789"/>
            <a:ext cx="5746472" cy="1660711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35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000">
                <a:latin typeface="Arial MT"/>
                <a:cs typeface="Arial MT"/>
              </a:rPr>
              <a:t>Our</a:t>
            </a:r>
            <a:r>
              <a:rPr sz="2000" spc="-20">
                <a:latin typeface="Arial MT"/>
                <a:cs typeface="Arial MT"/>
              </a:rPr>
              <a:t> </a:t>
            </a:r>
            <a:r>
              <a:rPr sz="2000" spc="114">
                <a:latin typeface="Arial MT"/>
                <a:cs typeface="Arial MT"/>
              </a:rPr>
              <a:t>computations</a:t>
            </a:r>
            <a:r>
              <a:rPr sz="2000" spc="-35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will</a:t>
            </a:r>
            <a:r>
              <a:rPr sz="2000" spc="5">
                <a:latin typeface="Arial MT"/>
                <a:cs typeface="Arial MT"/>
              </a:rPr>
              <a:t> </a:t>
            </a:r>
            <a:r>
              <a:rPr sz="2000" spc="114">
                <a:latin typeface="Arial MT"/>
                <a:cs typeface="Arial MT"/>
              </a:rPr>
              <a:t>be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95">
                <a:latin typeface="Arial MT"/>
                <a:cs typeface="Arial MT"/>
              </a:rPr>
              <a:t>based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105">
                <a:latin typeface="Arial MT"/>
                <a:cs typeface="Arial MT"/>
              </a:rPr>
              <a:t>on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2</a:t>
            </a:r>
            <a:r>
              <a:rPr sz="2000" spc="10">
                <a:latin typeface="Arial MT"/>
                <a:cs typeface="Arial MT"/>
              </a:rPr>
              <a:t> </a:t>
            </a:r>
            <a:r>
              <a:rPr sz="2000" spc="60">
                <a:latin typeface="Arial MT"/>
                <a:cs typeface="Arial MT"/>
              </a:rPr>
              <a:t>quibits.</a:t>
            </a:r>
            <a:endParaRPr sz="2000">
              <a:latin typeface="Arial MT"/>
              <a:cs typeface="Arial MT"/>
            </a:endParaRPr>
          </a:p>
          <a:p>
            <a:pPr marL="373380" indent="-360680">
              <a:lnSpc>
                <a:spcPct val="100000"/>
              </a:lnSpc>
              <a:spcBef>
                <a:spcPts val="250"/>
              </a:spcBef>
              <a:buFont typeface="Times New Roman"/>
              <a:buChar char="●"/>
              <a:tabLst>
                <a:tab pos="373380" algn="l"/>
              </a:tabLst>
            </a:pPr>
            <a:r>
              <a:rPr sz="2000">
                <a:latin typeface="Arial MT"/>
                <a:cs typeface="Arial MT"/>
              </a:rPr>
              <a:t>In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85">
                <a:latin typeface="Arial MT"/>
                <a:cs typeface="Arial MT"/>
              </a:rPr>
              <a:t>particular,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95">
                <a:latin typeface="Arial MT"/>
                <a:cs typeface="Arial MT"/>
              </a:rPr>
              <a:t>we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 spc="100">
                <a:latin typeface="Arial MT"/>
                <a:cs typeface="Arial MT"/>
              </a:rPr>
              <a:t>are</a:t>
            </a:r>
            <a:r>
              <a:rPr sz="2000" spc="-35">
                <a:latin typeface="Arial MT"/>
                <a:cs typeface="Arial MT"/>
              </a:rPr>
              <a:t> </a:t>
            </a:r>
            <a:r>
              <a:rPr sz="2000" spc="80">
                <a:latin typeface="Arial MT"/>
                <a:cs typeface="Arial MT"/>
              </a:rPr>
              <a:t>going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180">
                <a:latin typeface="Arial MT"/>
                <a:cs typeface="Arial MT"/>
              </a:rPr>
              <a:t>to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114">
                <a:latin typeface="Arial MT"/>
                <a:cs typeface="Arial MT"/>
              </a:rPr>
              <a:t>be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 spc="75">
                <a:latin typeface="Arial MT"/>
                <a:cs typeface="Arial MT"/>
              </a:rPr>
              <a:t>looking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140">
                <a:latin typeface="Arial MT"/>
                <a:cs typeface="Arial MT"/>
              </a:rPr>
              <a:t>for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 spc="60">
                <a:latin typeface="Arial MT"/>
                <a:cs typeface="Arial MT"/>
              </a:rPr>
              <a:t>w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=</a:t>
            </a:r>
            <a:r>
              <a:rPr sz="2000" spc="-30">
                <a:latin typeface="Arial MT"/>
                <a:cs typeface="Arial MT"/>
              </a:rPr>
              <a:t> </a:t>
            </a:r>
            <a:r>
              <a:rPr sz="2000" spc="-10">
                <a:latin typeface="Arial MT"/>
                <a:cs typeface="Arial MT"/>
              </a:rPr>
              <a:t>|11&gt;.</a:t>
            </a:r>
            <a:endParaRPr sz="2000">
              <a:latin typeface="Arial MT"/>
              <a:cs typeface="Arial MT"/>
            </a:endParaRPr>
          </a:p>
          <a:p>
            <a:pPr marL="329565" indent="-316865">
              <a:lnSpc>
                <a:spcPct val="100000"/>
              </a:lnSpc>
              <a:spcBef>
                <a:spcPts val="254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2000" spc="80">
                <a:latin typeface="Arial MT"/>
                <a:cs typeface="Arial MT"/>
              </a:rPr>
              <a:t>It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105">
                <a:latin typeface="Arial MT"/>
                <a:cs typeface="Arial MT"/>
              </a:rPr>
              <a:t>turns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140">
                <a:latin typeface="Arial MT"/>
                <a:cs typeface="Arial MT"/>
              </a:rPr>
              <a:t>out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 spc="150">
                <a:latin typeface="Arial MT"/>
                <a:cs typeface="Arial MT"/>
              </a:rPr>
              <a:t>that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55">
                <a:latin typeface="Arial MT"/>
                <a:cs typeface="Arial MT"/>
              </a:rPr>
              <a:t>in</a:t>
            </a:r>
            <a:r>
              <a:rPr sz="2000" spc="-15">
                <a:latin typeface="Arial MT"/>
                <a:cs typeface="Arial MT"/>
              </a:rPr>
              <a:t> </a:t>
            </a:r>
            <a:r>
              <a:rPr sz="2000" spc="100">
                <a:latin typeface="Arial MT"/>
                <a:cs typeface="Arial MT"/>
              </a:rPr>
              <a:t>this</a:t>
            </a:r>
            <a:r>
              <a:rPr sz="2000" spc="-10">
                <a:latin typeface="Arial MT"/>
                <a:cs typeface="Arial MT"/>
              </a:rPr>
              <a:t> </a:t>
            </a:r>
            <a:r>
              <a:rPr sz="2000" spc="90">
                <a:latin typeface="Arial MT"/>
                <a:cs typeface="Arial MT"/>
              </a:rPr>
              <a:t>case,</a:t>
            </a:r>
            <a:r>
              <a:rPr sz="2000" spc="-45">
                <a:latin typeface="Arial MT"/>
                <a:cs typeface="Arial MT"/>
              </a:rPr>
              <a:t> </a:t>
            </a:r>
            <a:r>
              <a:rPr sz="2000" spc="145">
                <a:latin typeface="Arial MT"/>
                <a:cs typeface="Arial MT"/>
              </a:rPr>
              <a:t>the</a:t>
            </a:r>
            <a:r>
              <a:rPr sz="2000" spc="-25">
                <a:latin typeface="Arial MT"/>
                <a:cs typeface="Arial MT"/>
              </a:rPr>
              <a:t> </a:t>
            </a:r>
            <a:r>
              <a:rPr sz="2000" spc="90">
                <a:latin typeface="Arial MT"/>
                <a:cs typeface="Arial MT"/>
              </a:rPr>
              <a:t>quantum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 spc="105">
                <a:latin typeface="Arial MT"/>
                <a:cs typeface="Arial MT"/>
              </a:rPr>
              <a:t>oracle</a:t>
            </a:r>
            <a:r>
              <a:rPr sz="2000" spc="-40">
                <a:latin typeface="Arial MT"/>
                <a:cs typeface="Arial MT"/>
              </a:rPr>
              <a:t> </a:t>
            </a:r>
            <a:r>
              <a:rPr sz="2000">
                <a:latin typeface="Arial MT"/>
                <a:cs typeface="Arial MT"/>
              </a:rPr>
              <a:t>will</a:t>
            </a:r>
            <a:r>
              <a:rPr sz="2000" spc="-5">
                <a:latin typeface="Arial MT"/>
                <a:cs typeface="Arial MT"/>
              </a:rPr>
              <a:t> </a:t>
            </a:r>
            <a:r>
              <a:rPr sz="2000" spc="85">
                <a:latin typeface="Arial MT"/>
                <a:cs typeface="Arial MT"/>
              </a:rPr>
              <a:t>look</a:t>
            </a:r>
            <a:r>
              <a:rPr sz="2000" spc="-50">
                <a:latin typeface="Arial MT"/>
                <a:cs typeface="Arial MT"/>
              </a:rPr>
              <a:t> </a:t>
            </a:r>
            <a:r>
              <a:rPr sz="2000" spc="-10">
                <a:latin typeface="Arial MT"/>
                <a:cs typeface="Arial MT"/>
              </a:rPr>
              <a:t>like: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3368DD66-BE0D-53D2-0B52-C6B8BFAA4BAD}"/>
              </a:ext>
            </a:extLst>
          </p:cNvPr>
          <p:cNvSpPr txBox="1"/>
          <p:nvPr/>
        </p:nvSpPr>
        <p:spPr>
          <a:xfrm>
            <a:off x="1099210" y="4587013"/>
            <a:ext cx="8896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00"/>
              </a:spcBef>
              <a:buFont typeface="Times New Roman"/>
              <a:buChar char="●"/>
              <a:tabLst>
                <a:tab pos="329565" algn="l"/>
              </a:tabLst>
            </a:pPr>
            <a:r>
              <a:rPr sz="1600" spc="-25">
                <a:latin typeface="Arial MT"/>
                <a:cs typeface="Arial MT"/>
              </a:rPr>
              <a:t>Or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16" name="object 5">
            <a:extLst>
              <a:ext uri="{FF2B5EF4-FFF2-40B4-BE49-F238E27FC236}">
                <a16:creationId xmlns:a16="http://schemas.microsoft.com/office/drawing/2014/main" id="{DCB50093-7EFC-0FD2-9D9F-9BA48A0B0E0F}"/>
              </a:ext>
            </a:extLst>
          </p:cNvPr>
          <p:cNvPicPr/>
          <p:nvPr/>
        </p:nvPicPr>
        <p:blipFill>
          <a:blip r:embed="rId3" cstate="print">
            <a:biLevel thresh="75000"/>
          </a:blip>
          <a:stretch>
            <a:fillRect/>
          </a:stretch>
        </p:blipFill>
        <p:spPr>
          <a:xfrm>
            <a:off x="2693134" y="3155456"/>
            <a:ext cx="5746471" cy="1371600"/>
          </a:xfrm>
          <a:prstGeom prst="rect">
            <a:avLst/>
          </a:prstGeom>
        </p:spPr>
      </p:pic>
      <p:pic>
        <p:nvPicPr>
          <p:cNvPr id="18" name="object 6">
            <a:extLst>
              <a:ext uri="{FF2B5EF4-FFF2-40B4-BE49-F238E27FC236}">
                <a16:creationId xmlns:a16="http://schemas.microsoft.com/office/drawing/2014/main" id="{B9A99A6C-AB4B-F38F-E612-D045744C0784}"/>
              </a:ext>
            </a:extLst>
          </p:cNvPr>
          <p:cNvPicPr/>
          <p:nvPr/>
        </p:nvPicPr>
        <p:blipFill>
          <a:blip r:embed="rId4" cstate="print">
            <a:biLevel thresh="75000"/>
          </a:blip>
          <a:stretch>
            <a:fillRect/>
          </a:stretch>
        </p:blipFill>
        <p:spPr>
          <a:xfrm>
            <a:off x="5566370" y="4978402"/>
            <a:ext cx="2314575" cy="13716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2B0BF6C-3D68-85F4-4A23-64805D7ECC7A}"/>
              </a:ext>
            </a:extLst>
          </p:cNvPr>
          <p:cNvSpPr txBox="1"/>
          <p:nvPr/>
        </p:nvSpPr>
        <p:spPr>
          <a:xfrm>
            <a:off x="631468" y="507998"/>
            <a:ext cx="6092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spc="225"/>
              <a:t>Grover’s</a:t>
            </a:r>
            <a:r>
              <a:rPr lang="en-US" sz="2800" b="1" spc="-215"/>
              <a:t> </a:t>
            </a:r>
            <a:r>
              <a:rPr lang="en-US" sz="2800" b="1" spc="215"/>
              <a:t>implementation</a:t>
            </a:r>
            <a:endParaRPr lang="en-US" sz="2800" b="1"/>
          </a:p>
        </p:txBody>
      </p:sp>
    </p:spTree>
    <p:extLst>
      <p:ext uri="{BB962C8B-B14F-4D97-AF65-F5344CB8AC3E}">
        <p14:creationId xmlns:p14="http://schemas.microsoft.com/office/powerpoint/2010/main" val="24035779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8E0FC-B4A6-D17E-0574-0079BA555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1CD6DB8-7FA1-8CA6-52C4-702D387EC6C3}"/>
              </a:ext>
            </a:extLst>
          </p:cNvPr>
          <p:cNvSpPr txBox="1"/>
          <p:nvPr/>
        </p:nvSpPr>
        <p:spPr>
          <a:xfrm>
            <a:off x="899652" y="589935"/>
            <a:ext cx="9851921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Limitations:</a:t>
            </a:r>
          </a:p>
          <a:p>
            <a:endParaRPr lang="en-US" sz="2400" dirty="0"/>
          </a:p>
          <a:p>
            <a:r>
              <a:rPr lang="en-US" sz="2400" dirty="0"/>
              <a:t> 1- require to know number of solution</a:t>
            </a:r>
            <a:br>
              <a:rPr lang="en-US" sz="2400" dirty="0"/>
            </a:br>
            <a:r>
              <a:rPr lang="en-US" sz="2400" dirty="0"/>
              <a:t>                                               K=⌊𝜋/4  √(𝑁/𝑎)​​⌋</a:t>
            </a:r>
          </a:p>
          <a:p>
            <a:endParaRPr lang="en-US" sz="2400" dirty="0"/>
          </a:p>
          <a:p>
            <a:r>
              <a:rPr lang="en-US" sz="2400" dirty="0"/>
              <a:t>2- only works with unstructured data </a:t>
            </a:r>
            <a:br>
              <a:rPr lang="en-US" sz="2400" dirty="0"/>
            </a:br>
            <a:r>
              <a:rPr lang="en-US" sz="2400" dirty="0"/>
              <a:t>if data structure then it should be done with classical will be much faster (binary search (O(</a:t>
            </a:r>
            <a:r>
              <a:rPr lang="en-US" sz="2400" dirty="0" err="1"/>
              <a:t>logN</a:t>
            </a:r>
            <a:r>
              <a:rPr lang="en-US" sz="2400" dirty="0"/>
              <a:t>))</a:t>
            </a:r>
          </a:p>
          <a:p>
            <a:br>
              <a:rPr lang="en-US" sz="2400" dirty="0"/>
            </a:br>
            <a:r>
              <a:rPr lang="en-US" sz="2400" dirty="0"/>
              <a:t>3- only quadratic speedup </a:t>
            </a:r>
            <a:br>
              <a:rPr lang="en-US" sz="2400" dirty="0"/>
            </a:br>
            <a:r>
              <a:rPr lang="en-US" sz="2400" dirty="0"/>
              <a:t>it only speed to O(√N) so if n = 128 </a:t>
            </a:r>
            <a:br>
              <a:rPr lang="en-US" sz="2400" dirty="0"/>
            </a:br>
            <a:r>
              <a:rPr lang="en-US" sz="2400" dirty="0"/>
              <a:t>then classical will be 2^128In quantum will be 2^64  which still large</a:t>
            </a:r>
          </a:p>
        </p:txBody>
      </p:sp>
    </p:spTree>
    <p:extLst>
      <p:ext uri="{BB962C8B-B14F-4D97-AF65-F5344CB8AC3E}">
        <p14:creationId xmlns:p14="http://schemas.microsoft.com/office/powerpoint/2010/main" val="48002140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C97BE-403B-122E-90D1-2788978A0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406400"/>
            <a:ext cx="4179570" cy="3457971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69670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{B245D581-595E-4DEA-8BC3-FABC44D4A121}TF7521aafa-c748-4c40-a498-ba511be234dc5b1b6097_win32-5039330bb2f3</Template>
  <TotalTime>46</TotalTime>
  <Words>511</Words>
  <Application>Microsoft Office PowerPoint</Application>
  <PresentationFormat>Widescreen</PresentationFormat>
  <Paragraphs>75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Arial MT</vt:lpstr>
      <vt:lpstr>Calibri</vt:lpstr>
      <vt:lpstr>Cambria Math</vt:lpstr>
      <vt:lpstr>Tenorite</vt:lpstr>
      <vt:lpstr>Times New Roman</vt:lpstr>
      <vt:lpstr>Verdana</vt:lpstr>
      <vt:lpstr>Custom</vt:lpstr>
      <vt:lpstr>Grover's Algorithm</vt:lpstr>
      <vt:lpstr>Introduction</vt:lpstr>
      <vt:lpstr>PowerPoint Presentation</vt:lpstr>
      <vt:lpstr>PowerPoint Presentation</vt:lpstr>
      <vt:lpstr>Algorithm Steps</vt:lpstr>
      <vt:lpstr>PowerPoint Presentation</vt:lpstr>
      <vt:lpstr>Algorithm Steps </vt:lpstr>
      <vt:lpstr>PowerPoint Presentation</vt:lpstr>
      <vt:lpstr>PowerPoint Presentation</vt:lpstr>
      <vt:lpstr>PowerPoint Presentation</vt:lpstr>
      <vt:lpstr>Diffusion</vt:lpstr>
      <vt:lpstr>Algorithm Steps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انجي عبدالملاك خله بولص</dc:creator>
  <cp:lastModifiedBy>انجي عبدالملاك خله بولص</cp:lastModifiedBy>
  <cp:revision>4</cp:revision>
  <dcterms:created xsi:type="dcterms:W3CDTF">2025-12-06T05:47:51Z</dcterms:created>
  <dcterms:modified xsi:type="dcterms:W3CDTF">2025-12-08T05:20:34Z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